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theme/theme2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 id="2147483696" r:id="rId24"/>
  </p:sldMasterIdLst>
  <p:notesMasterIdLst>
    <p:notesMasterId r:id="rId35"/>
  </p:notesMasterIdLst>
  <p:sldIdLst>
    <p:sldId id="256" r:id="rId25"/>
    <p:sldId id="259" r:id="rId26"/>
    <p:sldId id="269" r:id="rId27"/>
    <p:sldId id="270" r:id="rId28"/>
    <p:sldId id="262" r:id="rId29"/>
    <p:sldId id="263" r:id="rId30"/>
    <p:sldId id="261" r:id="rId31"/>
    <p:sldId id="264" r:id="rId32"/>
    <p:sldId id="266" r:id="rId33"/>
    <p:sldId id="271" r:id="rId3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2026"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Master" Target="slideMasters/slideMaster21.xml"/><Relationship Id="rId34"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4AB3CE-FF6F-4C6D-8575-9119D8AD5F62}" type="datetimeFigureOut">
              <a:rPr lang="en-US" smtClean="0"/>
              <a:t>5/18/2025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97CED-EDB3-4442-9110-DD8114A52274}" type="slidenum">
              <a:rPr lang="en-US" smtClean="0"/>
              <a:t>‹#›</a:t>
            </a:fld>
            <a:endParaRPr lang="en-US"/>
          </a:p>
        </p:txBody>
      </p:sp>
    </p:spTree>
    <p:extLst>
      <p:ext uri="{BB962C8B-B14F-4D97-AF65-F5344CB8AC3E}">
        <p14:creationId xmlns:p14="http://schemas.microsoft.com/office/powerpoint/2010/main" val="3845720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A97CED-EDB3-4442-9110-DD8114A52274}" type="slidenum">
              <a:rPr lang="en-US" smtClean="0"/>
              <a:t>7</a:t>
            </a:fld>
            <a:endParaRPr lang="en-US"/>
          </a:p>
        </p:txBody>
      </p:sp>
    </p:spTree>
    <p:extLst>
      <p:ext uri="{BB962C8B-B14F-4D97-AF65-F5344CB8AC3E}">
        <p14:creationId xmlns:p14="http://schemas.microsoft.com/office/powerpoint/2010/main" val="1479521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699840" y="746280"/>
            <a:ext cx="4945320" cy="96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1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44" name="PlaceHolder 1"/>
          <p:cNvSpPr>
            <a:spLocks noGrp="1"/>
          </p:cNvSpPr>
          <p:nvPr>
            <p:ph type="title"/>
          </p:nvPr>
        </p:nvSpPr>
        <p:spPr>
          <a:xfrm>
            <a:off x="699840" y="746280"/>
            <a:ext cx="4945320" cy="96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48" name="PlaceHolder 1"/>
          <p:cNvSpPr>
            <a:spLocks noGrp="1"/>
          </p:cNvSpPr>
          <p:nvPr>
            <p:ph type="title"/>
          </p:nvPr>
        </p:nvSpPr>
        <p:spPr>
          <a:xfrm>
            <a:off x="699840" y="746280"/>
            <a:ext cx="4945320" cy="96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99840" y="746280"/>
            <a:ext cx="4945320" cy="96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13160" y="539640"/>
            <a:ext cx="7717320" cy="9241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pic>
        <p:nvPicPr>
          <p:cNvPr id="4" name="Google Shape;11;p2"/>
          <p:cNvPicPr/>
          <p:nvPr/>
        </p:nvPicPr>
        <p:blipFill>
          <a:blip r:embed="rId3"/>
          <a:srcRect l="6446" t="15265" r="28409" b="40210"/>
          <a:stretch/>
        </p:blipFill>
        <p:spPr>
          <a:xfrm>
            <a:off x="4916880" y="2255040"/>
            <a:ext cx="4226760" cy="2888280"/>
          </a:xfrm>
          <a:prstGeom prst="rect">
            <a:avLst/>
          </a:prstGeom>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 name="Google Shape;47;p11"/>
          <p:cNvPicPr/>
          <p:nvPr/>
        </p:nvPicPr>
        <p:blipFill>
          <a:blip r:embed="rId3"/>
          <a:srcRect r="50065" b="37830"/>
          <a:stretch/>
        </p:blipFill>
        <p:spPr>
          <a:xfrm rot="16200000">
            <a:off x="5528160" y="-420840"/>
            <a:ext cx="3239280" cy="4033440"/>
          </a:xfrm>
          <a:prstGeom prst="rect">
            <a:avLst/>
          </a:prstGeom>
          <a:ln w="0">
            <a:noFill/>
          </a:ln>
        </p:spPr>
      </p:pic>
      <p:sp>
        <p:nvSpPr>
          <p:cNvPr id="6" name="PlaceHolder 1"/>
          <p:cNvSpPr>
            <a:spLocks noGrp="1"/>
          </p:cNvSpPr>
          <p:nvPr>
            <p:ph type="title"/>
          </p:nvPr>
        </p:nvSpPr>
        <p:spPr>
          <a:xfrm>
            <a:off x="713160" y="941400"/>
            <a:ext cx="5088240" cy="104472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 name="Google Shape;52;p13"/>
          <p:cNvPicPr/>
          <p:nvPr/>
        </p:nvPicPr>
        <p:blipFill>
          <a:blip r:embed="rId3"/>
          <a:srcRect l="29900" b="52150"/>
          <a:stretch/>
        </p:blipFill>
        <p:spPr>
          <a:xfrm rot="10800000">
            <a:off x="4595760" y="360"/>
            <a:ext cx="4548240" cy="3103920"/>
          </a:xfrm>
          <a:prstGeom prst="rect">
            <a:avLst/>
          </a:prstGeom>
          <a:ln w="0">
            <a:noFill/>
          </a:ln>
        </p:spPr>
      </p:pic>
      <p:sp>
        <p:nvSpPr>
          <p:cNvPr id="8"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9" name="PlaceHolder 2"/>
          <p:cNvSpPr>
            <a:spLocks noGrp="1"/>
          </p:cNvSpPr>
          <p:nvPr>
            <p:ph type="title"/>
          </p:nvPr>
        </p:nvSpPr>
        <p:spPr>
          <a:xfrm>
            <a:off x="713160" y="175500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
        <p:nvSpPr>
          <p:cNvPr id="10" name="PlaceHolder 3"/>
          <p:cNvSpPr>
            <a:spLocks noGrp="1"/>
          </p:cNvSpPr>
          <p:nvPr>
            <p:ph type="title"/>
          </p:nvPr>
        </p:nvSpPr>
        <p:spPr>
          <a:xfrm>
            <a:off x="713160" y="327528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
        <p:nvSpPr>
          <p:cNvPr id="11" name="PlaceHolder 4"/>
          <p:cNvSpPr>
            <a:spLocks noGrp="1"/>
          </p:cNvSpPr>
          <p:nvPr>
            <p:ph type="title"/>
          </p:nvPr>
        </p:nvSpPr>
        <p:spPr>
          <a:xfrm>
            <a:off x="3342240" y="175500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
        <p:nvSpPr>
          <p:cNvPr id="12" name="PlaceHolder 5"/>
          <p:cNvSpPr>
            <a:spLocks noGrp="1"/>
          </p:cNvSpPr>
          <p:nvPr>
            <p:ph type="title"/>
          </p:nvPr>
        </p:nvSpPr>
        <p:spPr>
          <a:xfrm>
            <a:off x="3342240" y="327528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
        <p:nvSpPr>
          <p:cNvPr id="13" name="PlaceHolder 6"/>
          <p:cNvSpPr>
            <a:spLocks noGrp="1"/>
          </p:cNvSpPr>
          <p:nvPr>
            <p:ph type="title"/>
          </p:nvPr>
        </p:nvSpPr>
        <p:spPr>
          <a:xfrm>
            <a:off x="5971320" y="175500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
        <p:nvSpPr>
          <p:cNvPr id="14" name="PlaceHolder 7"/>
          <p:cNvSpPr>
            <a:spLocks noGrp="1"/>
          </p:cNvSpPr>
          <p:nvPr>
            <p:ph type="title"/>
          </p:nvPr>
        </p:nvSpPr>
        <p:spPr>
          <a:xfrm>
            <a:off x="5971320" y="3275280"/>
            <a:ext cx="838440" cy="447120"/>
          </a:xfrm>
          <a:prstGeom prst="rect">
            <a:avLst/>
          </a:prstGeom>
          <a:noFill/>
          <a:ln w="0">
            <a:noFill/>
          </a:ln>
        </p:spPr>
        <p:txBody>
          <a:bodyPr lIns="91440" tIns="91440" rIns="91440" bIns="91440" anchor="b">
            <a:noAutofit/>
          </a:bodyPr>
          <a:lstStyle/>
          <a:p>
            <a:pPr indent="0">
              <a:lnSpc>
                <a:spcPct val="100000"/>
              </a:lnSpc>
              <a:buNone/>
            </a:pPr>
            <a:r>
              <a:rPr lang="fr-FR" sz="2400" b="1" strike="noStrike" spc="-1">
                <a:solidFill>
                  <a:schemeClr val="dk1"/>
                </a:solidFill>
                <a:latin typeface="Outfit"/>
                <a:ea typeface="Outfit"/>
              </a:rPr>
              <a:t>xx%</a:t>
            </a:r>
            <a:endParaRPr lang="fr-FR" sz="24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5" name="Google Shape;67;p14"/>
          <p:cNvPicPr/>
          <p:nvPr/>
        </p:nvPicPr>
        <p:blipFill>
          <a:blip r:embed="rId3"/>
          <a:srcRect l="29900" b="56210"/>
          <a:stretch/>
        </p:blipFill>
        <p:spPr>
          <a:xfrm rot="5400000" flipH="1">
            <a:off x="-861120" y="1449000"/>
            <a:ext cx="4548240" cy="2840400"/>
          </a:xfrm>
          <a:prstGeom prst="rect">
            <a:avLst/>
          </a:prstGeom>
          <a:ln w="0">
            <a:noFill/>
          </a:ln>
        </p:spPr>
      </p:pic>
      <p:sp>
        <p:nvSpPr>
          <p:cNvPr id="16"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7" name="Google Shape;70;p15"/>
          <p:cNvPicPr/>
          <p:nvPr/>
        </p:nvPicPr>
        <p:blipFill>
          <a:blip r:embed="rId3"/>
          <a:srcRect l="29900" b="52150"/>
          <a:stretch/>
        </p:blipFill>
        <p:spPr>
          <a:xfrm rot="16200000" flipH="1">
            <a:off x="5317560" y="722160"/>
            <a:ext cx="4548240" cy="3103920"/>
          </a:xfrm>
          <a:prstGeom prst="rect">
            <a:avLst/>
          </a:prstGeom>
          <a:ln w="0">
            <a:noFill/>
          </a:ln>
        </p:spPr>
      </p:pic>
      <p:sp>
        <p:nvSpPr>
          <p:cNvPr id="18"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9" name="Google Shape;73;p16"/>
          <p:cNvPicPr/>
          <p:nvPr/>
        </p:nvPicPr>
        <p:blipFill>
          <a:blip r:embed="rId3"/>
          <a:srcRect r="55545" b="37830"/>
          <a:stretch/>
        </p:blipFill>
        <p:spPr>
          <a:xfrm rot="5400000">
            <a:off x="585720" y="1697040"/>
            <a:ext cx="2883960" cy="4033440"/>
          </a:xfrm>
          <a:prstGeom prst="rect">
            <a:avLst/>
          </a:prstGeom>
          <a:ln w="0">
            <a:noFill/>
          </a:ln>
        </p:spPr>
      </p:pic>
      <p:sp>
        <p:nvSpPr>
          <p:cNvPr id="20" name="PlaceHolder 1"/>
          <p:cNvSpPr>
            <a:spLocks noGrp="1"/>
          </p:cNvSpPr>
          <p:nvPr>
            <p:ph type="title"/>
          </p:nvPr>
        </p:nvSpPr>
        <p:spPr>
          <a:xfrm>
            <a:off x="720000" y="539640"/>
            <a:ext cx="3597480" cy="1062720"/>
          </a:xfrm>
          <a:prstGeom prst="rect">
            <a:avLst/>
          </a:prstGeom>
          <a:noFill/>
          <a:ln w="0">
            <a:noFill/>
          </a:ln>
        </p:spPr>
        <p:txBody>
          <a:bodyPr lIns="91440" tIns="91440" rIns="91440" bIns="91440" anchor="b">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22" name="PlaceHolder 2"/>
          <p:cNvSpPr>
            <a:spLocks noGrp="1"/>
          </p:cNvSpPr>
          <p:nvPr>
            <p:ph type="body"/>
          </p:nvPr>
        </p:nvSpPr>
        <p:spPr>
          <a:xfrm>
            <a:off x="4650120" y="1584360"/>
            <a:ext cx="3773520" cy="3019320"/>
          </a:xfrm>
          <a:prstGeom prst="rect">
            <a:avLst/>
          </a:prstGeom>
          <a:noFill/>
          <a:ln w="0">
            <a:noFill/>
          </a:ln>
        </p:spPr>
        <p:txBody>
          <a:bodyPr lIns="90000" tIns="45000" rIns="90000" bIns="45000" anchor="t">
            <a:normAutofit fontScale="98333"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23" name="Google Shape;80;p17"/>
          <p:cNvPicPr/>
          <p:nvPr/>
        </p:nvPicPr>
        <p:blipFill>
          <a:blip r:embed="rId3"/>
          <a:srcRect l="29900" b="52150"/>
          <a:stretch/>
        </p:blipFill>
        <p:spPr>
          <a:xfrm>
            <a:off x="0" y="2039400"/>
            <a:ext cx="4548240" cy="31039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4" name="Google Shape;82;p18"/>
          <p:cNvPicPr/>
          <p:nvPr/>
        </p:nvPicPr>
        <p:blipFill>
          <a:blip r:embed="rId3"/>
          <a:srcRect l="37988" t="12339" r="-8087" b="39811"/>
          <a:stretch/>
        </p:blipFill>
        <p:spPr>
          <a:xfrm flipH="1">
            <a:off x="4595760" y="2039400"/>
            <a:ext cx="4548240" cy="3103920"/>
          </a:xfrm>
          <a:prstGeom prst="rect">
            <a:avLst/>
          </a:prstGeom>
          <a:ln w="0">
            <a:noFill/>
          </a:ln>
        </p:spPr>
      </p:pic>
      <p:sp>
        <p:nvSpPr>
          <p:cNvPr id="25" name="PlaceHolder 1"/>
          <p:cNvSpPr>
            <a:spLocks noGrp="1"/>
          </p:cNvSpPr>
          <p:nvPr>
            <p:ph type="title"/>
          </p:nvPr>
        </p:nvSpPr>
        <p:spPr>
          <a:xfrm>
            <a:off x="713160" y="794520"/>
            <a:ext cx="7717320" cy="69804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26" name="PlaceHolder 2"/>
          <p:cNvSpPr>
            <a:spLocks noGrp="1"/>
          </p:cNvSpPr>
          <p:nvPr>
            <p:ph type="body"/>
          </p:nvPr>
        </p:nvSpPr>
        <p:spPr>
          <a:xfrm>
            <a:off x="3488760" y="2398680"/>
            <a:ext cx="4941720" cy="1950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7" name="Google Shape;86;p19"/>
          <p:cNvPicPr/>
          <p:nvPr/>
        </p:nvPicPr>
        <p:blipFill>
          <a:blip r:embed="rId3"/>
          <a:srcRect l="42971" t="8605" r="8129" b="53361"/>
          <a:stretch/>
        </p:blipFill>
        <p:spPr>
          <a:xfrm>
            <a:off x="0" y="2676240"/>
            <a:ext cx="3172320" cy="2466720"/>
          </a:xfrm>
          <a:prstGeom prst="rect">
            <a:avLst/>
          </a:prstGeom>
          <a:ln w="0">
            <a:noFill/>
          </a:ln>
        </p:spPr>
      </p:pic>
      <p:sp>
        <p:nvSpPr>
          <p:cNvPr id="28"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9" name="Google Shape;95;p20"/>
          <p:cNvPicPr/>
          <p:nvPr/>
        </p:nvPicPr>
        <p:blipFill>
          <a:blip r:embed="rId3"/>
          <a:srcRect l="29900" b="52150"/>
          <a:stretch/>
        </p:blipFill>
        <p:spPr>
          <a:xfrm flipH="1">
            <a:off x="4595760" y="2036520"/>
            <a:ext cx="4548240" cy="3103920"/>
          </a:xfrm>
          <a:prstGeom prst="rect">
            <a:avLst/>
          </a:prstGeom>
          <a:ln w="0">
            <a:noFill/>
          </a:ln>
        </p:spPr>
      </p:pic>
      <p:sp>
        <p:nvSpPr>
          <p:cNvPr id="30"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713160" y="2918160"/>
            <a:ext cx="5067360" cy="151092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32" name="PlaceHolder 2"/>
          <p:cNvSpPr>
            <a:spLocks noGrp="1"/>
          </p:cNvSpPr>
          <p:nvPr>
            <p:ph type="title"/>
          </p:nvPr>
        </p:nvSpPr>
        <p:spPr>
          <a:xfrm>
            <a:off x="713160" y="1653840"/>
            <a:ext cx="1139760" cy="91548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pic>
        <p:nvPicPr>
          <p:cNvPr id="33" name="Google Shape;15;p3"/>
          <p:cNvPicPr/>
          <p:nvPr/>
        </p:nvPicPr>
        <p:blipFill>
          <a:blip r:embed="rId3"/>
          <a:srcRect r="30128" b="37830"/>
          <a:stretch/>
        </p:blipFill>
        <p:spPr>
          <a:xfrm rot="16200000">
            <a:off x="4881240" y="235440"/>
            <a:ext cx="4533120" cy="4033440"/>
          </a:xfrm>
          <a:prstGeom prst="rect">
            <a:avLst/>
          </a:prstGeom>
          <a:ln w="0">
            <a:noFill/>
          </a:ln>
        </p:spPr>
      </p:pic>
      <p:sp>
        <p:nvSpPr>
          <p:cNvPr id="3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9" name="Google Shape;111;p22"/>
          <p:cNvPicPr/>
          <p:nvPr/>
        </p:nvPicPr>
        <p:blipFill>
          <a:blip r:embed="rId3"/>
          <a:srcRect l="29900" b="55808"/>
          <a:stretch/>
        </p:blipFill>
        <p:spPr>
          <a:xfrm rot="5400000" flipH="1">
            <a:off x="-874080" y="1436040"/>
            <a:ext cx="4548240" cy="2866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0" name="Google Shape;113;p23"/>
          <p:cNvPicPr/>
          <p:nvPr/>
        </p:nvPicPr>
        <p:blipFill>
          <a:blip r:embed="rId3"/>
          <a:srcRect l="29900" b="52150"/>
          <a:stretch/>
        </p:blipFill>
        <p:spPr>
          <a:xfrm rot="16200000" flipH="1">
            <a:off x="5317560" y="722160"/>
            <a:ext cx="4548240" cy="31039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1" name="Google Shape;17;p4"/>
          <p:cNvPicPr/>
          <p:nvPr/>
        </p:nvPicPr>
        <p:blipFill>
          <a:blip r:embed="rId3"/>
          <a:srcRect l="45858" t="18030" r="7192" b="53365"/>
          <a:stretch/>
        </p:blipFill>
        <p:spPr>
          <a:xfrm rot="5400000">
            <a:off x="-594720" y="595080"/>
            <a:ext cx="3045600" cy="1855080"/>
          </a:xfrm>
          <a:prstGeom prst="rect">
            <a:avLst/>
          </a:prstGeom>
          <a:ln w="0">
            <a:noFill/>
          </a:ln>
        </p:spPr>
      </p:pic>
      <p:sp>
        <p:nvSpPr>
          <p:cNvPr id="42"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43" name="PlaceHolder 2"/>
          <p:cNvSpPr>
            <a:spLocks noGrp="1"/>
          </p:cNvSpPr>
          <p:nvPr>
            <p:ph type="body"/>
          </p:nvPr>
        </p:nvSpPr>
        <p:spPr>
          <a:xfrm>
            <a:off x="720000" y="1584360"/>
            <a:ext cx="5081400" cy="3019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720000" y="53676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pic>
        <p:nvPicPr>
          <p:cNvPr id="47" name="Google Shape;26;p5"/>
          <p:cNvPicPr/>
          <p:nvPr/>
        </p:nvPicPr>
        <p:blipFill>
          <a:blip r:embed="rId3"/>
          <a:srcRect t="43934" r="58145" b="-38"/>
          <a:stretch/>
        </p:blipFill>
        <p:spPr>
          <a:xfrm>
            <a:off x="6428520" y="0"/>
            <a:ext cx="2715120" cy="3639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pic>
        <p:nvPicPr>
          <p:cNvPr id="52" name="Google Shape;29;p6"/>
          <p:cNvPicPr/>
          <p:nvPr/>
        </p:nvPicPr>
        <p:blipFill>
          <a:blip r:embed="rId3"/>
          <a:srcRect l="29900" b="52150"/>
          <a:stretch/>
        </p:blipFill>
        <p:spPr>
          <a:xfrm flipH="1">
            <a:off x="4595760" y="2036520"/>
            <a:ext cx="4548240" cy="31039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720000" y="53964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55" name="PlaceHolder 2"/>
          <p:cNvSpPr>
            <a:spLocks noGrp="1"/>
          </p:cNvSpPr>
          <p:nvPr>
            <p:ph type="body"/>
          </p:nvPr>
        </p:nvSpPr>
        <p:spPr>
          <a:xfrm>
            <a:off x="4650120" y="1584360"/>
            <a:ext cx="3773520" cy="1419480"/>
          </a:xfrm>
          <a:prstGeom prst="rect">
            <a:avLst/>
          </a:prstGeom>
          <a:noFill/>
          <a:ln w="0">
            <a:noFill/>
          </a:ln>
        </p:spPr>
        <p:txBody>
          <a:bodyPr lIns="90000" tIns="45000" rIns="90000" bIns="45000" anchor="t">
            <a:normAutofit fontScale="56111"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56" name="Google Shape;34;p7"/>
          <p:cNvPicPr/>
          <p:nvPr/>
        </p:nvPicPr>
        <p:blipFill>
          <a:blip r:embed="rId3"/>
          <a:srcRect l="29900" b="52150"/>
          <a:stretch/>
        </p:blipFill>
        <p:spPr>
          <a:xfrm>
            <a:off x="0" y="2039400"/>
            <a:ext cx="4548240" cy="3103920"/>
          </a:xfrm>
          <a:prstGeom prst="rect">
            <a:avLst/>
          </a:prstGeom>
          <a:ln w="0">
            <a:noFill/>
          </a:ln>
        </p:spPr>
      </p:pic>
      <p:sp>
        <p:nvSpPr>
          <p:cNvPr id="57" name="PlaceHolder 3"/>
          <p:cNvSpPr>
            <a:spLocks noGrp="1"/>
          </p:cNvSpPr>
          <p:nvPr>
            <p:ph type="body"/>
          </p:nvPr>
        </p:nvSpPr>
        <p:spPr>
          <a:xfrm>
            <a:off x="4650120" y="3184200"/>
            <a:ext cx="3773520" cy="1419480"/>
          </a:xfrm>
          <a:prstGeom prst="rect">
            <a:avLst/>
          </a:prstGeom>
          <a:noFill/>
          <a:ln w="0">
            <a:noFill/>
          </a:ln>
        </p:spPr>
        <p:txBody>
          <a:bodyPr lIns="90000" tIns="45000" rIns="90000" bIns="45000" anchor="t">
            <a:normAutofit fontScale="56111"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8" name="Google Shape;37;p8"/>
          <p:cNvPicPr/>
          <p:nvPr/>
        </p:nvPicPr>
        <p:blipFill>
          <a:blip r:embed="rId3"/>
          <a:srcRect t="43934" r="58145" b="-38"/>
          <a:stretch/>
        </p:blipFill>
        <p:spPr>
          <a:xfrm>
            <a:off x="6428520" y="0"/>
            <a:ext cx="2715120" cy="3639960"/>
          </a:xfrm>
          <a:prstGeom prst="rect">
            <a:avLst/>
          </a:prstGeom>
          <a:ln w="0">
            <a:noFill/>
          </a:ln>
        </p:spPr>
      </p:pic>
      <p:sp>
        <p:nvSpPr>
          <p:cNvPr id="59"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0" name="Google Shape;40;p9"/>
          <p:cNvPicPr/>
          <p:nvPr/>
        </p:nvPicPr>
        <p:blipFill>
          <a:blip r:embed="rId3"/>
          <a:srcRect l="29900" b="52150"/>
          <a:stretch/>
        </p:blipFill>
        <p:spPr>
          <a:xfrm>
            <a:off x="0" y="2039400"/>
            <a:ext cx="4548240" cy="3103920"/>
          </a:xfrm>
          <a:prstGeom prst="rect">
            <a:avLst/>
          </a:prstGeom>
          <a:ln w="0">
            <a:noFill/>
          </a:ln>
        </p:spPr>
      </p:pic>
      <p:sp>
        <p:nvSpPr>
          <p:cNvPr id="61"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2"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63" name="PlaceHolder 2"/>
          <p:cNvSpPr>
            <a:spLocks noGrp="1"/>
          </p:cNvSpPr>
          <p:nvPr>
            <p:ph type="title"/>
          </p:nvPr>
        </p:nvSpPr>
        <p:spPr>
          <a:xfrm>
            <a:off x="720000" y="4014360"/>
            <a:ext cx="7703640" cy="572400"/>
          </a:xfrm>
          <a:prstGeom prst="rect">
            <a:avLst/>
          </a:prstGeom>
          <a:solidFill>
            <a:schemeClr val="lt1"/>
          </a:solidFill>
          <a:ln w="0">
            <a:noFill/>
          </a:ln>
        </p:spPr>
        <p:txBody>
          <a:bodyPr lIns="91440" tIns="91440" rIns="91440" bIns="91440" anchor="t">
            <a:noAutofit/>
          </a:bodyPr>
          <a:lstStyle/>
          <a:p>
            <a:pPr indent="0">
              <a:buNone/>
            </a:pPr>
            <a:r>
              <a:rPr lang="fr-FR" sz="2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64" name="Google Shape;119;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5"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66" name="Google Shape;122;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68"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628560" y="350460"/>
            <a:ext cx="7714800" cy="9234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5000" b="1" strike="noStrike" spc="-1" dirty="0">
                <a:solidFill>
                  <a:schemeClr val="dk1"/>
                </a:solidFill>
                <a:latin typeface="Outfit"/>
                <a:ea typeface="Outfit"/>
              </a:rPr>
              <a:t>Sentiment Analysis Project</a:t>
            </a:r>
            <a:endParaRPr lang="fr-FR" sz="5000" b="0" strike="noStrike" spc="-1" dirty="0">
              <a:solidFill>
                <a:schemeClr val="dk1"/>
              </a:solidFill>
              <a:latin typeface="Arial"/>
            </a:endParaRPr>
          </a:p>
        </p:txBody>
      </p:sp>
      <p:sp>
        <p:nvSpPr>
          <p:cNvPr id="70" name="PlaceHolder 2"/>
          <p:cNvSpPr>
            <a:spLocks noGrp="1"/>
          </p:cNvSpPr>
          <p:nvPr>
            <p:ph type="subTitle"/>
          </p:nvPr>
        </p:nvSpPr>
        <p:spPr>
          <a:xfrm>
            <a:off x="714240" y="1362240"/>
            <a:ext cx="7714800" cy="409320"/>
          </a:xfrm>
          <a:prstGeom prst="rect">
            <a:avLst/>
          </a:prstGeom>
          <a:noFill/>
          <a:ln w="0">
            <a:noFill/>
          </a:ln>
        </p:spPr>
        <p:txBody>
          <a:bodyPr lIns="91440" tIns="91440" rIns="91440" bIns="91440" anchor="t">
            <a:normAutofit lnSpcReduction="10000"/>
          </a:bodyPr>
          <a:lstStyle/>
          <a:p>
            <a:pPr indent="0">
              <a:lnSpc>
                <a:spcPct val="100000"/>
              </a:lnSpc>
              <a:buNone/>
              <a:tabLst>
                <a:tab pos="0" algn="l"/>
              </a:tabLst>
            </a:pPr>
            <a:r>
              <a:rPr lang="en" sz="1600" b="0" strike="noStrike" spc="-1" dirty="0">
                <a:solidFill>
                  <a:schemeClr val="dk1"/>
                </a:solidFill>
                <a:latin typeface="arial"/>
                <a:ea typeface="arial"/>
              </a:rPr>
              <a:t>Analyzing Sentiment of Tweets Using NLP Techniques</a:t>
            </a:r>
            <a:endParaRPr lang="en-US" sz="1600" b="0" strike="noStrike" spc="-1" dirty="0">
              <a:solidFill>
                <a:srgbClr val="000000"/>
              </a:solidFill>
              <a:latin typeface="OpenSymbol"/>
            </a:endParaRPr>
          </a:p>
        </p:txBody>
      </p:sp>
      <p:cxnSp>
        <p:nvCxnSpPr>
          <p:cNvPr id="71" name="Google Shape;131;p28"/>
          <p:cNvCxnSpPr/>
          <p:nvPr/>
        </p:nvCxnSpPr>
        <p:spPr>
          <a:xfrm>
            <a:off x="713160" y="2080440"/>
            <a:ext cx="7717680" cy="360"/>
          </a:xfrm>
          <a:prstGeom prst="straightConnector1">
            <a:avLst/>
          </a:prstGeom>
          <a:ln w="19050">
            <a:solidFill>
              <a:srgbClr val="021024"/>
            </a:solidFill>
            <a:round/>
          </a:ln>
        </p:spPr>
      </p:cxnSp>
      <p:sp>
        <p:nvSpPr>
          <p:cNvPr id="72" name="PlaceHolder 3"/>
          <p:cNvSpPr>
            <a:spLocks noGrp="1"/>
          </p:cNvSpPr>
          <p:nvPr>
            <p:ph type="subTitle"/>
          </p:nvPr>
        </p:nvSpPr>
        <p:spPr>
          <a:xfrm>
            <a:off x="714240" y="1678500"/>
            <a:ext cx="3771720" cy="495000"/>
          </a:xfrm>
          <a:prstGeom prst="rect">
            <a:avLst/>
          </a:prstGeom>
          <a:noFill/>
          <a:ln w="0">
            <a:noFill/>
          </a:ln>
        </p:spPr>
        <p:txBody>
          <a:bodyPr lIns="91440" tIns="91440" rIns="91440" bIns="91440" anchor="t">
            <a:normAutofit fontScale="94443"/>
          </a:bodyPr>
          <a:lstStyle/>
          <a:p>
            <a:pPr>
              <a:lnSpc>
                <a:spcPct val="100000"/>
              </a:lnSpc>
              <a:tabLst>
                <a:tab pos="0" algn="l"/>
              </a:tabLst>
            </a:pPr>
            <a:r>
              <a:rPr lang="en" sz="1500" b="0" i="1" strike="noStrike" spc="-1" dirty="0" smtClean="0">
                <a:solidFill>
                  <a:schemeClr val="dk1"/>
                </a:solidFill>
                <a:latin typeface="arial"/>
                <a:ea typeface="arial"/>
              </a:rPr>
              <a:t>Linear</a:t>
            </a:r>
            <a:r>
              <a:rPr lang="en" sz="1400" b="0" i="1" strike="noStrike" spc="-1" dirty="0" smtClean="0">
                <a:solidFill>
                  <a:schemeClr val="dk1"/>
                </a:solidFill>
                <a:latin typeface="arial"/>
                <a:ea typeface="arial"/>
              </a:rPr>
              <a:t> SVC model</a:t>
            </a:r>
            <a:endParaRPr lang="en-US" sz="1400" b="0" strike="noStrike" spc="-1" dirty="0">
              <a:solidFill>
                <a:srgbClr val="000000"/>
              </a:solidFill>
              <a:latin typeface="OpenSymbol"/>
            </a:endParaRPr>
          </a:p>
        </p:txBody>
      </p:sp>
      <p:cxnSp>
        <p:nvCxnSpPr>
          <p:cNvPr id="73" name="Google Shape;133;p28"/>
          <p:cNvCxnSpPr/>
          <p:nvPr/>
        </p:nvCxnSpPr>
        <p:spPr>
          <a:xfrm>
            <a:off x="713160" y="2919960"/>
            <a:ext cx="3758040" cy="360"/>
          </a:xfrm>
          <a:prstGeom prst="straightConnector1">
            <a:avLst/>
          </a:prstGeom>
          <a:ln w="19050">
            <a:solidFill>
              <a:srgbClr val="021024"/>
            </a:solidFill>
            <a:round/>
          </a:ln>
        </p:spPr>
      </p:cxnSp>
      <p:sp>
        <p:nvSpPr>
          <p:cNvPr id="2" name="Rectangle 1"/>
          <p:cNvSpPr/>
          <p:nvPr/>
        </p:nvSpPr>
        <p:spPr>
          <a:xfrm>
            <a:off x="628560" y="2274883"/>
            <a:ext cx="2523319" cy="606513"/>
          </a:xfrm>
          <a:prstGeom prst="rect">
            <a:avLst/>
          </a:prstGeom>
        </p:spPr>
        <p:txBody>
          <a:bodyPr wrap="none">
            <a:spAutoFit/>
          </a:bodyPr>
          <a:lstStyle/>
          <a:p>
            <a:pPr algn="ctr">
              <a:lnSpc>
                <a:spcPct val="250000"/>
              </a:lnSpc>
            </a:pPr>
            <a:r>
              <a:rPr lang="en-US" sz="1600" dirty="0" smtClean="0">
                <a:effectLst/>
                <a:latin typeface="David"/>
                <a:ea typeface="Calibri" panose="020F0502020204030204" pitchFamily="34" charset="0"/>
                <a:cs typeface="Arial" panose="020B0604020202020204" pitchFamily="34" charset="0"/>
              </a:rPr>
              <a:t>Advisor: Dr. Rami Ibrahim</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oogle Shape;180;p33"/>
          <p:cNvPicPr/>
          <p:nvPr/>
        </p:nvPicPr>
        <p:blipFill>
          <a:blip r:embed="rId2"/>
          <a:srcRect l="9227" r="9239"/>
          <a:stretch/>
        </p:blipFill>
        <p:spPr>
          <a:xfrm>
            <a:off x="4650120" y="1584360"/>
            <a:ext cx="3773520" cy="3019320"/>
          </a:xfrm>
          <a:prstGeom prst="rect">
            <a:avLst/>
          </a:prstGeom>
          <a:ln w="0">
            <a:noFill/>
          </a:ln>
        </p:spPr>
      </p:pic>
      <p:sp>
        <p:nvSpPr>
          <p:cNvPr id="81" name="PlaceHolder 1"/>
          <p:cNvSpPr>
            <a:spLocks noGrp="1"/>
          </p:cNvSpPr>
          <p:nvPr>
            <p:ph type="title"/>
          </p:nvPr>
        </p:nvSpPr>
        <p:spPr>
          <a:xfrm>
            <a:off x="723960" y="542880"/>
            <a:ext cx="7705440" cy="571320"/>
          </a:xfrm>
          <a:prstGeom prst="rect">
            <a:avLst/>
          </a:prstGeom>
          <a:noFill/>
          <a:ln w="0">
            <a:noFill/>
          </a:ln>
        </p:spPr>
        <p:txBody>
          <a:bodyPr lIns="91440" tIns="91440" rIns="91440" bIns="91440" anchor="t">
            <a:normAutofit fontScale="90000"/>
          </a:bodyPr>
          <a:lstStyle/>
          <a:p>
            <a:pPr>
              <a:lnSpc>
                <a:spcPct val="100000"/>
              </a:lnSpc>
              <a:tabLst>
                <a:tab pos="0" algn="l"/>
              </a:tabLst>
            </a:pPr>
            <a:r>
              <a:rPr lang="en-US" sz="2600" b="1" strike="noStrike" spc="-1" dirty="0" smtClean="0">
                <a:solidFill>
                  <a:schemeClr val="dk1"/>
                </a:solidFill>
                <a:latin typeface="Outfit"/>
                <a:ea typeface="Outfit"/>
              </a:rPr>
              <a:t>Introduction</a:t>
            </a:r>
            <a:endParaRPr lang="fr-FR" sz="2600" b="0" strike="noStrike" spc="-1" dirty="0">
              <a:solidFill>
                <a:schemeClr val="dk1"/>
              </a:solidFill>
              <a:latin typeface="Arial"/>
            </a:endParaRPr>
          </a:p>
        </p:txBody>
      </p:sp>
      <p:sp>
        <p:nvSpPr>
          <p:cNvPr id="82" name="PlaceHolder 2"/>
          <p:cNvSpPr>
            <a:spLocks noGrp="1"/>
          </p:cNvSpPr>
          <p:nvPr>
            <p:ph type="subTitle"/>
          </p:nvPr>
        </p:nvSpPr>
        <p:spPr>
          <a:xfrm>
            <a:off x="504377" y="1579763"/>
            <a:ext cx="3771720" cy="1695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arial"/>
                <a:ea typeface="arial"/>
              </a:rPr>
              <a:t>The objective of this project was to analyze the sentiment of tweets using Natural Language Processing (NLP) methodologies. Specifically, the project aimed to </a:t>
            </a:r>
            <a:r>
              <a:rPr lang="en" sz="1200" b="0" strike="noStrike" spc="-1" dirty="0" smtClean="0">
                <a:solidFill>
                  <a:schemeClr val="dk1"/>
                </a:solidFill>
                <a:latin typeface="arial"/>
                <a:ea typeface="arial"/>
              </a:rPr>
              <a:t>classify </a:t>
            </a:r>
            <a:r>
              <a:rPr lang="en" sz="1200" b="0" strike="noStrike" spc="-1" dirty="0">
                <a:solidFill>
                  <a:schemeClr val="dk1"/>
                </a:solidFill>
                <a:latin typeface="arial"/>
                <a:ea typeface="arial"/>
              </a:rPr>
              <a:t>tweets into three distinct sentiment categories: Positive, Negative, and Neutral. </a:t>
            </a:r>
            <a:endParaRPr lang="en-US" sz="1200" b="0" strike="noStrike" spc="-1" dirty="0">
              <a:solidFill>
                <a:srgbClr val="000000"/>
              </a:solidFill>
              <a:latin typeface="OpenSymbol"/>
            </a:endParaRPr>
          </a:p>
        </p:txBody>
      </p:sp>
      <p:cxnSp>
        <p:nvCxnSpPr>
          <p:cNvPr id="83" name="Google Shape;183;p33"/>
          <p:cNvCxnSpPr/>
          <p:nvPr/>
        </p:nvCxnSpPr>
        <p:spPr>
          <a:xfrm>
            <a:off x="713160" y="1279440"/>
            <a:ext cx="7717680" cy="360"/>
          </a:xfrm>
          <a:prstGeom prst="straightConnector1">
            <a:avLst/>
          </a:prstGeom>
          <a:ln w="19050">
            <a:solidFill>
              <a:srgbClr val="021024"/>
            </a:solidFill>
            <a:round/>
          </a:ln>
        </p:spPr>
      </p:cxnSp>
      <p:sp>
        <p:nvSpPr>
          <p:cNvPr id="7" name="PlaceHolder 1"/>
          <p:cNvSpPr txBox="1">
            <a:spLocks/>
          </p:cNvSpPr>
          <p:nvPr/>
        </p:nvSpPr>
        <p:spPr>
          <a:xfrm>
            <a:off x="723960" y="3035408"/>
            <a:ext cx="3755036" cy="694800"/>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Bef>
                <a:spcPts val="0"/>
              </a:spcBef>
              <a:buClr>
                <a:schemeClr val="dk1"/>
              </a:buClr>
              <a:buSzPts val="1100"/>
            </a:pPr>
            <a:r>
              <a:rPr lang="en-US" sz="1400" b="1" dirty="0" smtClean="0">
                <a:latin typeface="+mn-lt"/>
              </a:rPr>
              <a:t>Sentiment Analysis Dataset:</a:t>
            </a:r>
          </a:p>
          <a:p>
            <a:pPr lvl="0" algn="ctr">
              <a:lnSpc>
                <a:spcPct val="100000"/>
              </a:lnSpc>
              <a:spcBef>
                <a:spcPts val="0"/>
              </a:spcBef>
              <a:buClr>
                <a:schemeClr val="dk1"/>
              </a:buClr>
              <a:buSzPts val="1100"/>
            </a:pPr>
            <a:endParaRPr lang="en-US" sz="1200" dirty="0" smtClean="0">
              <a:latin typeface="+mn-lt"/>
            </a:endParaRPr>
          </a:p>
          <a:p>
            <a:pPr lvl="0">
              <a:spcAft>
                <a:spcPts val="1600"/>
              </a:spcAft>
            </a:pPr>
            <a:r>
              <a:rPr lang="en-US" sz="1200" dirty="0" smtClean="0">
                <a:latin typeface="+mn-lt"/>
              </a:rPr>
              <a:t>The dataset has 500 rows with seven features (here, month, day, time of tweet, text, sentiment, platform). It focuses on tweets from different platforms and classify them into three categories which is positive negative or neutral</a:t>
            </a:r>
          </a:p>
          <a:p>
            <a:pPr>
              <a:lnSpc>
                <a:spcPct val="100000"/>
              </a:lnSpc>
              <a:tabLst>
                <a:tab pos="0" algn="l"/>
              </a:tabLst>
            </a:pPr>
            <a:endParaRPr lang="en" sz="1200" b="1" spc="-1" dirty="0">
              <a:solidFill>
                <a:schemeClr val="dk1"/>
              </a:solidFill>
              <a:latin typeface="+mn-lt"/>
            </a:endParaRPr>
          </a:p>
          <a:p>
            <a:pPr>
              <a:lnSpc>
                <a:spcPct val="100000"/>
              </a:lnSpc>
              <a:tabLst>
                <a:tab pos="0" algn="l"/>
              </a:tabLst>
            </a:pPr>
            <a:endParaRPr lang="fr-FR" sz="1800" spc="-1" dirty="0">
              <a:solidFill>
                <a:schemeClr val="dk1"/>
              </a:solidFill>
              <a:latin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idx="4294967295"/>
          </p:nvPr>
        </p:nvSpPr>
        <p:spPr>
          <a:xfrm>
            <a:off x="2762566" y="212634"/>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2600" b="1" strike="noStrike" spc="-1" dirty="0" smtClean="0">
                <a:solidFill>
                  <a:schemeClr val="dk1"/>
                </a:solidFill>
                <a:latin typeface="Outfit"/>
                <a:ea typeface="Outfit"/>
              </a:rPr>
              <a:t>Data Exploration</a:t>
            </a:r>
            <a:endParaRPr lang="fr-FR" sz="2600" b="0" strike="noStrike" spc="-1" dirty="0">
              <a:solidFill>
                <a:schemeClr val="dk1"/>
              </a:solidFill>
              <a:latin typeface="Arial"/>
            </a:endParaRPr>
          </a:p>
        </p:txBody>
      </p:sp>
      <p:cxnSp>
        <p:nvCxnSpPr>
          <p:cNvPr id="97" name="Google Shape;183;p33"/>
          <p:cNvCxnSpPr/>
          <p:nvPr/>
        </p:nvCxnSpPr>
        <p:spPr>
          <a:xfrm>
            <a:off x="307975" y="882573"/>
            <a:ext cx="7717680" cy="360"/>
          </a:xfrm>
          <a:prstGeom prst="straightConnector1">
            <a:avLst/>
          </a:prstGeom>
          <a:ln w="19050">
            <a:solidFill>
              <a:srgbClr val="021024"/>
            </a:solidFill>
            <a:round/>
          </a:ln>
        </p:spPr>
      </p:cxnSp>
      <p:sp>
        <p:nvSpPr>
          <p:cNvPr id="4" name="AutoShape 6" descr="data:image/png;base64,iVBORw0KGgoAAAANSUhEUgAAAhwAAAGJCAYAAADBveoRAAAAOXRFWHRTb2Z0d2FyZQBNYXRwbG90bGliIHZlcnNpb24zLjcuMiwgaHR0cHM6Ly9tYXRwbG90bGliLm9yZy8pXeV/AAAACXBIWXMAAA9hAAAPYQGoP6dpAABA70lEQVR4nO3dd1QV1/428OcAckQ6SFUEe+8aRI2ioIA9YmwYwSiaBGzExHCNNXoxxlhiSEzuTezdGE3siGJFY7mIGvUCF8RIs1FVpOz3D3/M60gRkOEAeT5rnbWcPfvs+c5xhMeZPXNUQggBIiIiIgVpaboAIiIiqvkYOIiIiEhxDBxERESkOAYOIiIiUhwDBxERESmOgYOIiIgUx8BBREREimPgICIiIsUxcBAREZHiGDioRliwYAFUKlWlbMvZ2RnOzs7SclhYGFQqFXbv3l0p2/fx8YGDg0OlbKu8MjMzMWnSJFhbW0OlUmHGjBmaLqlM4uLioFKpsH79ek2XUmUV/Jt78OBBhY1ZHY5tKj8GDqpy1q9fD5VKJb1q164NW1tbuLm54ZtvvkFGRkaFbCchIQELFixAREREhYxXkapybaXxz3/+E+vXr8eHH36ITZs24b333iu27/Pnz7F69Wp07NgRRkZGMDExQevWrTF58mTcunVL0Tq3bt2KVatWKboNJR08eBALFiwodX9nZ2e0adNGuYKISqCj6QKIirNo0SI0bNgQOTk5SEpKQlhYGGbMmIEVK1bgt99+Q7t27aS+n3/+OT777LMyjZ+QkICFCxfCwcEBHTp0KPX7jh49WqbtlEdJtf3rX/9Cfn6+4jW8iePHj6Nbt26YP3/+a/t6enri0KFDGDNmDHx9fZGTk4Nbt25h//796N69O1q0aKFYnVu3bsX169cLnYGxt7fH06dPUatWLcW2XREOHjyI4ODgMoUOIk1h4KAqy8PDA126dJGWAwMDcfz4cQwaNAhDhgzBzZs3oaenBwDQ0dGBjo6yh/OTJ09Qp04d6OrqKrqd16nqvwQBICUlBa1atXptv4sXL2L//v1YsmQJ/vGPf8jWffvtt0hNTVWowpIVnFkjoorDSypUrfTt2xdz587FnTt3sHnzZqm9qDkcISEh6NmzJ0xMTGBgYIDmzZtLv9TCwsLQtWtXAMCECROkyzcF1+wLTj1fvnwZvXr1Qp06daT3vjqHo0BeXh7+8Y9/wNraGvr6+hgyZAju3r0r6+Pg4AAfH59C7315zNfVVtR17qysLHz88cews7ODWq1G8+bNsXz5crz6ZdAqlQr+/v7Yu3cv2rRpA7VajdatW+Pw4cNFf+CvSElJwcSJE2FlZYXatWujffv22LBhg7S+YD5LbGwsDhw4INUeFxdX5HgxMTEAgB49ehRap62tDXNzc1nbvXv38P7778PKykqq/eeff5b1Kahh586dWLJkCerXr4/atWvDxcUF0dHRUj9nZ2ccOHAAd+7ckeos+FyLmsPh4+MDAwMDxMfHY9CgQTAwMEC9evUQHBwMALh27Rr69u0LfX192NvbY+vWrYX2KTU1FTNmzJD+npo0aYIvv/xSdsaqYNvLly/Hjz/+iMaNG0OtVqNr1664ePGirJ6Cbb98CfJNRUZGwsfHB40aNULt2rVhbW2N999/Hw8fPiyy/4MHDzBy5EgYGRnB3Nwc06dPx7Nnzwr127x5Mzp37gw9PT2YmZlh9OjRhf59FGX79u3o3LkzDA0NYWRkhLZt22L16tVvvJ9U+XiGg6qd9957D//4xz9w9OhR+Pr6Ftnnxo0bGDRoENq1a4dFixZBrVYjOjoaZ8+eBQC0bNkSixYtwrx58zB58mS8/fbbAIDu3btLYzx8+BAeHh4YPXo0xo0bBysrqxLrWrJkCVQqFWbPno2UlBSsWrUKrq6uiIiIkM7ElEZpanuZEAJDhgzBiRMnMHHiRHTo0AFHjhzBJ598gnv37mHlypWy/mfOnMGePXvw0UcfwdDQEN988w08PT0RHx9f6Bf8y54+fQpnZ2dER0fD398fDRs2xK5du+Dj44PU1FRMnz4dLVu2xKZNmzBz5kzUr18fH3/8MQDAwsKiyDHt7e0BAFu2bEGPHj1KPEuVnJyMbt26SaHJwsIChw4dwsSJE5Genl7ossjSpUuhpaWFWbNmIS0tDcuWLYOXlxcuXLgAAJgzZw7S0tLw119/SZ+RgYFBsdsHXoRKDw8P9OrVC8uWLcOWLVvg7+8PfX19zJkzB15eXhg+fDjWrl2L8ePHw8nJCQ0bNgTw4gxZ7969ce/ePUyZMgUNGjTAuXPnEBgYiMTExEJzSbZu3YqMjAxMmTIFKpUKy5Ytw/Dhw/G///0PtWrVwpQpU5CQkICQkBBs2rSpxLrLIiQkBP/73/8wYcIEWFtb48aNG/jxxx9x48YNnD9/vlCoGTlyJBwcHBAUFITz58/jm2++wePHj7Fx40apz5IlSzB37lyMHDkSkyZNwv3797FmzRr06tUL//nPf2BiYlJsLWPGjIGLiwu+/PJLAMDNmzdx9uxZTJ8+vcL2mSqJIKpi1q1bJwCIixcvFtvH2NhYdOzYUVqeP3++ePlwXrlypQAg7t+/X+wYFy9eFADEunXrCq3r3bu3ACDWrl1b5LrevXtLyydOnBAARL169UR6errUvnPnTgFArF69Wmqzt7cX3t7erx2zpNq8vb2Fvb29tLx3714BQCxevFjWb8SIEUKlUono6GipDYDQ1dWVtV29elUAEGvWrCm0rZetWrVKABCbN2+W2p4/fy6cnJyEgYGBbN/t7e3FwIEDSxxPCCHy8/Olz9rKykqMGTNGBAcHizt37hTqO3HiRGFjYyMePHggax89erQwNjYWT548EUL8/7+Pli1biuzsbKnf6tWrBQBx7do1qW3gwIGyz7JAbGxsoc/f29tbABD//Oc/pbbHjx8LPT09oVKpxPbt26X2W7duCQBi/vz5UtsXX3wh9PX1xX//+1/Ztj777DOhra0t4uPjZds2NzcXjx49kvrt27dPABC///671Obn5yfK8mO8d+/eonXr1iX2KfgcX7Zt2zYBQJw6dUpqK/g3N2TIEFnfjz76SAAQV69eFUIIERcXJ7S1tcWSJUtk/a5duyZ0dHRk7a8e29OnTxdGRkYiNze31PtIVRcvqVC1ZGBgUOLdKgX/Y9q3b1+5J1iq1WpMmDCh1P3Hjx8PQ0NDaXnEiBGwsbHBwYMHy7X90jp48CC0tbUxbdo0WfvHH38MIQQOHToka3d1dUXjxo2l5Xbt2sHIyAj/+9//Xrsda2trjBkzRmqrVasWpk2bhszMTJw8ebLMtatUKhw5cgSLFy+Gqakptm3bBj8/P9jb22PUqFHSHA4hBH755RcMHjwYQgg8ePBAerm5uSEtLQ1XrlyRjT1hwgTZfJuCM0Wv28/XmTRpkvRnExMTNG/eHPr6+hg5cqTU3rx5c5iYmMi2tWvXLrz99tswNTWV1e/q6oq8vDycOnVKtp1Ro0bB1NS0wut/nZfPxj179gwPHjxAt27dAKDQZwwAfn5+suWpU6cCgHTc79mzB/n5+Rg5cqRsv62trdG0aVOcOHGi2FpMTEyQlZWFkJCQN94v0jwGDqqWMjMzZb/cXzVq1Cj06NEDkyZNgpWVFUaPHo2dO3eWKXzUq1evTBNEmzZtKltWqVRo0qRJsfMXKsqdO3dga2tb6PNo2bKltP5lDRo0KDSGqakpHj9+/NrtNG3aFFpa8h8bxW2ntNRqNebMmYObN28iISEB27ZtQ7du3bBz5074+/sDAO7fv4/U1FT8+OOPsLCwkL0KQmFKSkqJ+1nwy/t1+1mS2rVrF7o8ZGxsjPr16xe61GBsbCzbVlRUFA4fPlyofldX10qrvzQePXqE6dOnw8rKCnp6erCwsJAuC6WlpRXq/+px37hxY2hpaUnHfVRUFIQQaNq0aaF9v3nzZqH9ftlHH32EZs2awcPDA/Xr18f7779f6vlGVPVwDgdVO3/99RfS0tLQpEmTYvvo6enh1KlTOHHiBA4cOIDDhw9jx44d6Nu3L44ePQptbe3Xbqcs8y5Kq7hJfXl5eaWqqSIUtx3xygRTTbCxscHo0aPh6emJ1q1bY+fOnVi/fr0UFMeNGwdvb+8i3/vybdKAMvtZ3Jil2VZ+fj769euHTz/9tMi+zZo1K/OYShg5ciTOnTuHTz75BB06dICBgQHy8/Ph7u5eqsD+6jGen58PlUqFQ4cOFblPJc2bsbS0REREBI4cOYJDhw7h0KFDWLduHcaPHy+brEzVAwMHVTsFE+Tc3NxK7KelpQUXFxe4uLhgxYoV+Oc//4k5c+bgxIkTcHV1rfAnk0ZFRcmWhRCIjo6W/SI0NTUt8lbPO3fuoFGjRtJyWWqzt7fHsWPHkJGRITvLUfDQrIKJmW/K3t4ekZGRyM/Pl53lqOjtAC8u1bRr1w5RUVF48OABLCwsYGhoiLy8POmMQEWorKfTAi/+55+ZmVml63/8+DFCQ0OxcOFCzJs3T2p/9dh+WVRUlHQGBACio6ORn58v3fHTuHFjCCHQsGHDQqGqNHR1dTF48GAMHjwY+fn5+Oijj/DDDz9g7ty5Jf6ng6oeXlKhauX48eP44osv0LBhQ3h5eRXb79GjR4XaCh6glZ2dDQDQ19cHgAp71sPGjRtl80p2796NxMREeHh4SG2NGzfG+fPn8fz5c6lt//79hW4PLEttAwYMQF5eHr799ltZ+8qVK6FSqWTbfxMDBgxAUlISduzYIbXl5uZizZo1MDAwQO/evcs8ZlRUFOLj4wu1p6amIjw8HKamprCwsIC2tjY8PT3xyy+/4Pr164X6379/v8zbBl58zkVdJlDCyJEjER4ejiNHjhRal5qaitzc3DKPWdHHcMEZiFfPopT0NNaCW3MLrFmzBgCk42748OHQ1tbGwoULC40rhCj2dlsAhdZpaWlJAb7g3zFVHzzDQVXWoUOHcOvWLeTm5iI5ORnHjx9HSEgI7O3t8dtvv5X4YKZFixbh1KlTGDhwIOzt7ZGSkoLvvvsO9evXR8+ePQG8+OVvYmKCtWvXwtDQEPr6+nB0dJT9b60szMzM0LNnT0yYMAHJyclYtWoVmjRpIrt1d9KkSdi9ezfc3d0xcuRIxMTEYPPmzbJJnGWtbfDgwejTpw/mzJmDuLg4tG/fHkePHsW+ffswY8aMQmOX1+TJk/HDDz/Ax8cHly9fhoODA3bv3o2zZ89i1apVJc6pKc7Vq1cxduxYeHh44O2334aZmRnu3buHDRs2ICEhAatWrZJ+CS5duhQnTpyAo6MjfH190apVKzx69AhXrlzBsWPHigyZr9O5c2fs2LEDAQEB6Nq1KwwMDDB48OAyj1Man3zyCX777TcMGjQIPj4+6Ny5M7KysnDt2jXs3r0bcXFxqFu3bpnrB4Bp06bBzc0N2traGD16dInvuX//PhYvXlyovSDEF9zym5OTg3r16uHo0aOIjY0tdrzY2FgMGTIE7u7uCA8Px+bNmzF27Fi0b98ewItjefHixQgMDERcXByGDRsGQ0NDxMbG4tdff8XkyZMxa9asIseeNGkSHj16hL59+6J+/fq4c+cO1qxZgw4dOkhzh6ga0ci9MUQlKLgttuClq6srrK2tRb9+/cTq1atlt18WePW22NDQUDF06FBha2srdHV1ha2trRgzZkyhWxL37dsnWrVqJXR0dGS3QZZ0+2Bxt8Vu27ZNBAYGCktLS6GnpycGDhxY5O2dX3/9tahXr55Qq9WiR48e4tKlS4XGLKm2V28dFEKIjIwMMXPmTGFraytq1aolmjZtKr766iuRn58v6wdA+Pn5FaqpuNt1X5WcnCwmTJgg6tatK3R1dUXbtm2LvHW3tLfFJicni6VLl4revXsLGxsboaOjI0xNTUXfvn3F7t27i+zv5+cn7OzsRK1atYS1tbVwcXERP/74o9Sn4O9j165dsvcWdatrZmamGDt2rDAxMREApM+1uNti9fX1C9VU3LFS1GeQkZEhAgMDRZMmTYSurq6oW7eu6N69u1i+fLl4/vy5bNtfffVVoTHxyq22ubm5YurUqcLCwkKoVKrX3iJbcAtyUS8XFxchhBB//fWXeOedd4SJiYkwNjYW7777rkhISCi07YJ/c3/++acYMWKEMDQ0FKampsLf3188ffq00LZ/+eUX0bNnT6Gvry/09fVFixYthJ+fn7h9+7bsM3752N69e7fo37+/sLS0FLq6uqJBgwZiypQpIjExscT9pKpJJUQVmClGRERENRrncBAREZHiGDiIiIhIcQwcREREpDgGDiIiIlIcAwcREREpjoGDiIiIFMcHf+HFs/4TEhJgaGhYqY86JiIiqu6EEMjIyICtrW2hL3d8GQMHgISEBNjZ2Wm6DCIiomrr7t27qF+/frHrGTgA6ZHMd+/ehZGRkYarISIiqj7S09NhZ2f32q83YODA///GRSMjIwYOIiKicnjdlAROGiUiIiLFMXAQERGR4hg4iIiISHEMHERERKQ4Bg4iIiJSHAMHERERKU6jgSMoKAhdu3aFoaEhLC0tMWzYMNy+fVvW59mzZ/Dz84O5uTkMDAzg6emJ5ORkWZ/4+HgMHDgQderUgaWlJT755BPk5uZW5q4QERFRCTQaOE6ePAk/Pz+cP38eISEhyMnJQf/+/ZGVlSX1mTlzJn7//Xfs2rULJ0+eREJCAoYPHy6tz8vLw8CBA/H8+XOcO3cOGzZswPr16zFv3jxN7BIREREVQSWEEJouosD9+/dhaWmJkydPolevXkhLS4OFhQW2bt2KESNGAABu3bqFli1bIjw8HN26dcOhQ4cwaNAgJCQkwMrKCgCwdu1azJ49G/fv34euru5rt5ueng5jY2OkpaXxwV9ERERlUNrfoVVqDkdaWhoAwMzMDABw+fJl5OTkwNXVVerTokULNGjQAOHh4QCA8PBwtG3bVgobAODm5ob09HTcuHGjyO1kZ2cjPT1d9iIiIiLlVJnAkZ+fjxkzZqBHjx5o06YNACApKQm6urowMTGR9bWyskJSUpLU5+WwUbC+YF1RgoKCYGxsLL34xW1ERETKqjLfpeLn54fr16/jzJkzim8rMDAQAQEB0nLBF88QEdELPdb00HQJVInOTj2r+DaqRODw9/fH/v37cerUKdlX21pbW+P58+dITU2VneVITk6GtbW11OePP/6QjVdwF0tBn1ep1Wqo1eoK3gsiIiIqjkYvqQgh4O/vj19//RXHjx9Hw4YNZes7d+6MWrVqITQ0VGq7ffs24uPj4eTkBABwcnLCtWvXkJKSIvUJCQmBkZERWrVqVTk7QkRERCXS6BkOPz8/bN26Ffv27YOhoaE058LY2Bh6enowNjbGxIkTERAQADMzMxgZGWHq1KlwcnJCt27dAAD9+/dHq1at8N5772HZsmVISkrC559/Dj8/P57FICIiqiI0Gji+//57AICzs7Osfd26dfDx8QEArFy5ElpaWvD09ER2djbc3Nzw3XffSX21tbWxf/9+fPjhh3BycoK+vj68vb2xaNGiytoNIiIieo0q9RwOTeFzOIiI5Dhp9O/lTSaNVsvncBAREVHNxMBBREREimPgICIiIsUxcBAREZHiGDiIiIhIcQwcREREpDgGDiIiIlIcAwcREREpjoGDiIiIFMfAQURERIpj4CAiIiLFMXAQERGR4hg4iIiISHEMHERERKQ4Bg4iIiJSHAMHERERKY6Bg4iIiBTHwEFERESKY+AgIiIixTFwEBERkeIYOIiIiEhxDBxERESkOAYOIiIiUhwDBxERESmOgYOIiIgUx8BBREREitNo4Dh16hQGDx4MW1tbqFQq7N27V7ZepVIV+frqq6+kPg4ODoXWL126tJL3hIiIiEqi0cCRlZWF9u3bIzg4uMj1iYmJstfPP/8MlUoFT09PWb9FixbJ+k2dOrUyyiciIqJS0tHkxj08PODh4VHsemtra9nyvn370KdPHzRq1EjWbmhoWKgvERERVR3VZg5HcnIyDhw4gIkTJxZat3TpUpibm6Njx4746quvkJubW+JY2dnZSE9Pl72IiIhIORo9w1EWGzZsgKGhIYYPHy5rnzZtGjp16gQzMzOcO3cOgYGBSExMxIoVK4odKygoCAsXLlS6ZCIiIvo/1SZw/Pzzz/Dy8kLt2rVl7QEBAdKf27VrB11dXUyZMgVBQUFQq9VFjhUYGCh7X3p6Ouzs7JQpnIiIiKpH4Dh9+jRu376NHTt2vLavo6MjcnNzERcXh+bNmxfZR61WFxtGiIiIqOJVizkcP/30Ezp37oz27du/tm9ERAS0tLRgaWlZCZURERFRaWj0DEdmZiaio6Ol5djYWERERMDMzAwNGjQA8OJyx65du/D1118Xen94eDguXLiAPn36wNDQEOHh4Zg5cybGjRsHU1PTStsPIiIiKplGA8elS5fQp08fablgXoW3tzfWr18PANi+fTuEEBgzZkyh96vVamzfvh0LFixAdnY2GjZsiJkzZ8rmZxAREZHmqYQQQtNFaFp6ejqMjY2RlpYGIyMjTZdDRKRxPdb00HQJVInOTj1b7veW9ndotZjDQURERNUbAwcREREpjoGDiIiIFMfAQURERIpj4CAiIiLFMXAQERGR4qrFo82rus6fbNR0CVSJLn81XtMlEBFVOzzDQURERIpj4CAiIiLFMXAQERGR4hg4iIiISHEMHERERKQ4Bg4iIiJSHAMHERERKY6Bg4iIiBTHwEFERESKY+AgIiIixTFwEBERkeIYOIiIiEhxDBxERESkOAYOIiIiUhwDBxERESmOgYOIiIgUx8BBREREimPgICIiIsUxcBAREZHiNBo4Tp06hcGDB8PW1hYqlQp79+6Vrffx8YFKpZK93N3dZX0ePXoELy8vGBkZwcTEBBMnTkRmZmYl7gURERG9jkYDR1ZWFtq3b4/g4OBi+7i7uyMxMVF6bdu2Tbbey8sLN27cQEhICPbv349Tp05h8uTJSpdOREREZaCjyY17eHjAw8OjxD5qtRrW1tZFrrt58yYOHz6MixcvokuXLgCANWvWYMCAAVi+fDlsbW0rvGYiIiIquyo/hyMsLAyWlpZo3rw5PvzwQzx8+FBaFx4eDhMTEylsAICrqyu0tLRw4cKFYsfMzs5Genq67EVERETKqdKBw93dHRs3bkRoaCi+/PJLnDx5Eh4eHsjLywMAJCUlwdLSUvYeHR0dmJmZISkpqdhxg4KCYGxsLL3s7OwU3Q8iIqK/O41eUnmd0aNHS39u27Yt2rVrh8aNGyMsLAwuLi7lHjcwMBABAQHScnp6OkMHERGRgqr0GY5XNWrUCHXr1kV0dDQAwNraGikpKbI+ubm5ePToUbHzPoAX80KMjIxkLyIiIlJOtQocf/31Fx4+fAgbGxsAgJOTE1JTU3H58mWpz/Hjx5Gfnw9HR0dNlUlERESv0OgllczMTOlsBQDExsYiIiICZmZmMDMzw8KFC+Hp6Qlra2vExMTg008/RZMmTeDm5gYAaNmyJdzd3eHr64u1a9ciJycH/v7+GD16NO9QISIiqkI0eobj0qVL6NixIzp27AgACAgIQMeOHTFv3jxoa2sjMjISQ4YMQbNmzTBx4kR07twZp0+fhlqtlsbYsmULWrRoARcXFwwYMAA9e/bEjz/+qKldIiIioiJo9AyHs7MzhBDFrj9y5MhrxzAzM8PWrVsrsiwiIiKqYNVqDgcRERFVTwwcREREpDgGDiIiIlIcAwcREREpjoGDiIiIFMfAQURERIpj4CAiIiLFMXAQERGR4hg4iIiISHEMHERERKQ4Bg4iIiJSHAMHERERKY6Bg4iIiBTHwEFERESKY+AgIiIixTFwEBERkeJ0NF0AEZVe/KK2mi6BKlGDedc0XQJRheEZDiIiIlIcAwcREREpjoGDiIiIFMfAQURERIpj4CAiIiLFMXAQERGR4hg4iIiISHEMHERERKQ4Bg4iIiJSnEYDx6lTpzB48GDY2tpCpVJh79690rqcnBzMnj0bbdu2hb6+PmxtbTF+/HgkJCTIxnBwcIBKpZK9li5dWsl7QkRERCXRaODIyspC+/btERwcXGjdkydPcOXKFcydOxdXrlzBnj17cPv2bQwZMqRQ30WLFiExMVF6TZ06tTLKJyIiolLS6HepeHh4wMPDo8h1xsbGCAkJkbV9++23eOuttxAfH48GDRpI7YaGhrC2ti71drOzs5GdnS0tp6enl7FyIiIiKotqNYcjLS0NKpUKJiYmsvalS5fC3NwcHTt2xFdffYXc3NwSxwkKCoKxsbH0srOzU7BqIiIiqjbfFvvs2TPMnj0bY8aMgZGRkdQ+bdo0dOrUCWZmZjh37hwCAwORmJiIFStWFDtWYGAgAgICpOX09HSGDiIiIgVVi8CRk5ODkSNHQgiB77//Xrbu5eDQrl076OrqYsqUKQgKCoJarS5yPLVaXew6IiIiqnhV/pJKQdi4c+cOQkJCZGc3iuLo6Ijc3FzExcVVToFERET0WlX6DEdB2IiKisKJEydgbm7+2vdERERAS0sLlpaWlVAhERERlYZGA0dmZiaio6Ol5djYWERERMDMzAw2NjYYMWIErly5gv379yMvLw9JSUkAADMzM+jq6iI8PBwXLlxAnz59YGhoiPDwcMycORPjxo2DqamppnaLiIiIXqHRwHHp0iX06dNHWi6Yj+Ht7Y0FCxbgt99+AwB06NBB9r4TJ07A2dkZarUa27dvx4IFC5CdnY2GDRti5syZsnkdREREpHkaDRzOzs4QQhS7vqR1ANCpUyecP3++ossiIiKiClblJ40SERFR9cfAQURERIpj4CAiIiLFMXAQERGR4hg4iIiISHHlChyNGjXCw4cPC7WnpqaiUaNGb1wUERER1SzlChxxcXHIy8sr1J6dnY179+69cVFERERUs5TpORwFD+ICgCNHjsDY2FhazsvLQ2hoKBwcHCqsOCIiIqoZyhQ4hg0bBgBQqVTw9vaWratVqxYcHBzw9ddfV1hxREREVDOUKXDk5+cDABo2bIiLFy+ibt26ihRFRERENUu5Hm0eGxtb0XUQERFRDVbu71IJDQ1FaGgoUlJSpDMfBX7++ec3LoyIiIhqjnIFjoULF2LRokXo0qULbGxsoFKpKrouIiIiqkHKFTjWrl2L9evX47333qvoeoiIiKgGKtdzOJ4/f47u3btXdC1ERERUQ5UrcEyaNAlbt26t6FqIiIiohirXJZVnz57hxx9/xLFjx9CuXTvUqlVLtn7FihUVUhwRERHVDOUKHJGRkejQoQMA4Pr167J1nEBKRERErypX4Dhx4kRF10FEREQ1GL+enoiIiBRXrjMcffr0KfHSyfHjx8tdEBEREdU85QocBfM3CuTk5CAiIgLXr18v9KVuREREROUKHCtXriyyfcGCBcjMzHyjgoiIiKjmqdA5HOPGjeP3qBAREVEhFRo4wsPDUbt27YockoiIiGqAcgWO4cOHy17vvPMOunXrhgkTJmDKlCmlHufUqVMYPHgwbG1toVKpsHfvXtl6IQTmzZsHGxsb6OnpwdXVFVFRUbI+jx49gpeXF4yMjGBiYoKJEyfysg4REVEVU67AYWxsLHuZmZnB2dkZBw8exPz580s9TlZWFtq3b4/g4OAi1y9btgzffPMN1q5diwsXLkBfXx9ubm549uyZ1MfLyws3btxASEgI9u/fj1OnTmHy5Mnl2S0iIiJSSLkmja5bt65CNu7h4QEPD48i1wkhsGrVKnz++ecYOnQoAGDjxo2wsrLC3r17MXr0aNy8eROHDx/GxYsX0aVLFwDAmjVrMGDAACxfvhy2trYVUicRERG9mTeaw3H58mVs3rwZmzdvxn/+85+KqgkAEBsbi6SkJLi6ukptxsbGcHR0RHh4OIAXc0ZMTEyksAEArq6u0NLSwoULF4odOzs7G+np6bIXERERKadcZzhSUlIwevRohIWFwcTEBACQmpqKPn36YPv27bCwsHjjwpKSkgAAVlZWsnYrKytpXVJSEiwtLWXrdXR0YGZmJvUpSlBQEBYuXPjGNRIREVHplOsMx9SpU5GRkYEbN27g0aNHePToEa5fv4709HRMmzatomuscIGBgUhLS5Ned+/e1XRJRERENVq5znAcPnwYx44dQ8uWLaW2Vq1aITg4GP3796+QwqytrQEAycnJsLGxkdqTk5OlJ51aW1sjJSVF9r7c3Fw8evRIen9R1Go11Gp1hdRJREREr1euMxz5+fmoVatWofZatWohPz//jYsCgIYNG8La2hqhoaFSW3p6Oi5cuAAnJycAgJOTE1JTU3H58mWpz/Hjx5Gfnw9HR8cKqYOIiIjeXLkCR9++fTF9+nQkJCRIbffu3cPMmTPh4uJS6nEyMzMRERGBiIgIAC8mikZERCA+Ph4qlQozZszA4sWL8dtvv+HatWsYP348bG1tMWzYMABAy5Yt4e7uDl9fX/zxxx84e/Ys/P39MXr0aN6hQkREVIWU65LKt99+iyFDhsDBwQF2dnYAgLt376JNmzbYvHlzqce5dOkS+vTpIy0HBAQAALy9vbF+/Xp8+umnyMrKwuTJk5GamoqePXvi8OHDsqeZbtmyBf7+/nBxcYGWlhY8PT3xzTfflGe3iIiISCHlChx2dna4cuUKjh07hlu3bgF4cbbh5VtYS8PZ2RlCiGLXq1QqLFq0CIsWLSq2j5mZGbZu3Vqm7RIREVHlKtMllePHj6NVq1ZIT0+HSqVCv379MHXqVEydOhVdu3ZF69atcfr0aaVqJSIiomqqTIFj1apV8PX1hZGRUaF1xsbGmDJlClasWFFhxREREVHNUKbAcfXqVbi7uxe7vn///rI7RoiIiIiAMgaO5OTkIm+HLaCjo4P79++/cVFERERUs5QpcNSrVw/Xr18vdn1kZKTsIV1EREREQBkDx4ABAzB37lzZ18MXePr0KebPn49BgwZVWHFERERUM5TpttjPP/8ce/bsQbNmzeDv74/mzZsDAG7duoXg4GDk5eVhzpw5ihRKRERE1VeZAoeVlRXOnTuHDz/8EIGBgdIzNFQqFdzc3BAcHFzo212JiIiIyvzgL3t7exw8eBCPHz9GdHQ0hBBo2rQpTE1NlaiPiIiIaoByPWkUAExNTdG1a9eKrIWIiIhqqHJ9eRsRERFRWTBwEBERkeIYOIiIiEhxDBxERESkOAYOIiIiUhwDBxERESmOgYOIiIgUx8BBREREimPgICIiIsUxcBAREZHiGDiIiIhIcQwcREREpDgGDiIiIlIcAwcREREpjoGDiIiIFMfAQURERIqr8oHDwcEBKpWq0MvPzw8A4OzsXGjdBx98oOGqiYiI6GU6mi7gdS5evIi8vDxp+fr16+jXrx/effddqc3X1xeLFi2SluvUqVOpNRIREVHJqnzgsLCwkC0vXboUjRs3Ru/evaW2OnXqwNraurJLIyIiolKq8pdUXvb8+XNs3rwZ77//PlQqldS+ZcsW1K1bF23atEFgYCCePHlS4jjZ2dlIT0+XvYiIiEg5Vf4Mx8v27t2L1NRU+Pj4SG1jx46Fvb09bG1tERkZidmzZ+P27dvYs2dPseMEBQVh4cKFlVAxERERAdUscPz000/w8PCAra2t1DZ58mTpz23btoWNjQ1cXFwQExODxo0bFzlOYGAgAgICpOX09HTY2dkpVzgREdHfXLUJHHfu3MGxY8dKPHMBAI6OjgCA6OjoYgOHWq2GWq2u8BqJiIioaNVmDse6detgaWmJgQMHltgvIiICAGBjY1MJVREREVFpVIszHPn5+Vi3bh28vb2ho/P/S46JicHWrVsxYMAAmJubIzIyEjNnzkSvXr3Qrl07DVZMREREL6sWgePYsWOIj4/H+++/L2vX1dXFsWPHsGrVKmRlZcHOzg6enp74/PPPNVQpERERFaVaBI7+/ftDCFGo3c7ODidPntRARURERFQW1WYOBxEREVVfDBxERESkOAYOIiIiUhwDBxERESmOgYOIiIgUx8BBREREimPgICIiIsUxcBAREZHiGDiIiIhIcQwcREREpDgGDiIiIlIcAwcREREpjoGDiIiIFMfAQURERIpj4CAiIiLFMXAQERGR4hg4iIiISHEMHERERKQ4Bg4iIiJSHAMHERERKY6Bg4iIiBTHwEFERESKY+AgIiIixTFwEBERkeIYOIiIiEhxDBxERESkuCodOBYsWACVSiV7tWjRQlr/7Nkz+Pn5wdzcHAYGBvD09ERycrIGKyYiIqKiVOnAAQCtW7dGYmKi9Dpz5oy0bubMmfj999+xa9cunDx5EgkJCRg+fLgGqyUiIqKi6Gi6gNfR0dGBtbV1ofa0tDT89NNP2Lp1K/r27QsAWLduHVq2bInz58+jW7dulV0qERERFaPKn+GIioqCra0tGjVqBC8vL8THxwMALl++jJycHLi6ukp9W7RogQYNGiA8PLzEMbOzs5Geni57ERERkXKqdOBwdHTE+vXrcfjwYXz//feIjY3F22+/jYyMDCQlJUFXVxcmJiay91hZWSEpKanEcYOCgmBsbCy97OzsFNwLIiIiqtKXVDw8PKQ/t2vXDo6OjrC3t8fOnTuhp6dX7nEDAwMREBAgLaenpzN0EBERKahKn+F4lYmJCZo1a4bo6GhYW1vj+fPnSE1NlfVJTk4ucs7Hy9RqNYyMjGQvIiIiUk61ChyZmZmIiYmBjY0NOnfujFq1aiE0NFRaf/v2bcTHx8PJyUmDVRIREdGrqvQllVmzZmHw4MGwt7dHQkIC5s+fD21tbYwZMwbGxsaYOHEiAgICYGZmBiMjI0ydOhVOTk68Q4WIiKiKqdKB46+//sKYMWPw8OFDWFhYoGfPnjh//jwsLCwAACtXroSWlhY8PT2RnZ0NNzc3fPfddxqumoiIiF5VpQPH9u3bS1xfu3ZtBAcHIzg4uJIqIiIiovKoVnM4iIiIqHpi4CAiIiLFMXAQERGR4hg4iIiISHEMHERERKQ4Bg4iIiJSHAMHERERKY6Bg4iIiBTHwEFERESKY+AgIiIixTFwEBERkeIYOIiIiEhxDBxERESkOAYOIiIiUhwDBxERESmOgYOIiIgUx8BBREREimPgICIiIsUxcBAREZHiGDiIiIhIcQwcREREpDgGDiIiIlIcAwcREREpjoGDiIiIFMfAQURERIpj4CAiIiLFVenAERQUhK5du8LQ0BCWlpYYNmwYbt++Levj7OwMlUole33wwQcaqpiIiIiKUqUDx8mTJ+Hn54fz588jJCQEOTk56N+/P7KysmT9fH19kZiYKL2WLVumoYqJiIioKDqaLqAkhw8fli2vX78elpaWuHz5Mnr16iW116lTB9bW1pVdHhEREZVSlT7D8aq0tDQAgJmZmax9y5YtqFu3Ltq0aYPAwEA8efKkxHGys7ORnp4uexEREZFyqvQZjpfl5+djxowZ6NGjB9q0aSO1jx07Fvb29rC1tUVkZCRmz56N27dvY8+ePcWOFRQUhIULF1ZG2URERIRqFDj8/Pxw/fp1nDlzRtY+efJk6c9t27aFjY0NXFxcEBMTg8aNGxc5VmBgIAICAqTl9PR02NnZKVM4ERERVY/A4e/vj/379+PUqVOoX79+iX0dHR0BANHR0cUGDrVaDbVaXeF1EhERUdGqdOAQQmDq1Kn49ddfERYWhoYNG772PREREQAAGxsbhasjIiKi0qrSgcPPzw9bt27Fvn37YGhoiKSkJACAsbEx9PT0EBMTg61bt2LAgAEwNzdHZGQkZs6ciV69eqFdu3Yarp6IiIgKVOnA8f333wN48XCvl61btw4+Pj7Q1dXFsWPHsGrVKmRlZcHOzg6enp74/PPPNVAtERERFadKBw4hRInr7ezscPLkyUqqhoiIiMqrWj2Hg4iIiKonBg4iIiJSHAMHERERKY6Bg4iIiBTHwEFERESKY+AgIiIixTFwEBERkeIYOIiIiEhxDBxERESkOAYOIiIiUhwDBxERESmOgYOIiIgUx8BBREREimPgICIiIsUxcBAREZHiGDiIiIhIcQwcREREpDgGDiIiIlIcAwcREREpjoGDiIiIFMfAQURERIpj4CAiIiLFMXAQERGR4hg4iIiISHEMHERERKQ4Bg4iIiJSXI0JHMHBwXBwcEDt2rXh6OiIP/74Q9MlERER0f+pEYFjx44dCAgIwPz583HlyhW0b98ebm5uSElJ0XRpREREhBoSOFasWAFfX19MmDABrVq1wtq1a1GnTh38/PPPmi6NiIiIAOhouoA39fz5c1y+fBmBgYFSm5aWFlxdXREeHl7ke7Kzs5GdnS0tp6WlAQDS09PLVUNe9tNyvY+qp/IeJxUh41mexrZNlU+Tx1ru01yNbZsq35scawXvFUKU2K/aB44HDx4gLy8PVlZWsnYrKyvcunWryPcEBQVh4cKFhdrt7OwUqZFqFuM1H2i6BPq7CDLWdAX0N2E8+82PtYyMDBgbFz9OtQ8c5REYGIiAgABpOT8/H48ePYK5uTlUKpUGK6s+0tPTYWdnh7t378LIyEjT5VANxmONKguPtfIRQiAjIwO2trYl9qv2gaNu3brQ1tZGcnKyrD05ORnW1tZFvketVkOtVsvaTExMlCqxRjMyMuI/TKoUPNaosvBYK7uSzmwUqPaTRnV1ddG5c2eEhoZKbfn5+QgNDYWTk5MGKyMiIqIC1f4MBwAEBATA29sbXbp0wVtvvYVVq1YhKysLEyZM0HRpREREhBoSOEaNGoX79+9j3rx5SEpKQocOHXD48OFCE0mp4qjVasyfP7/QpSmiisZjjSoLjzVlqcTr7mMhIiIiekPVfg4HERERVX0MHERERKQ4Bg4iIiJSHAMHlUlYWBhUKhVSU1NL7Ofg4IBVq1ZVSk1EBRYsWIAOHTpougyiQvgzkYGDyqh79+5ITEyUHvKyfv36Ih+advHiRUyePLmSq6O/E5VKhb1798raZs2aJXsmD1F5OTs7Y8aMGZouo0apEbfFUuXR1dUt9gmuL7OwsKiEaojkDAwMYGBgoOky6G9CCIG8vDzo6PBXaWnwDEcN5OzsDH9/f/j7+8PY2Bh169bF3LlzpW/ye/z4McaPHw9TU1PUqVMHHh4eiIqKkt5/584dDB48GKamptDX10fr1q1x8OBBAPJLKmFhYZgwYQLS0tKgUqmgUqmwYMECAPLTh2PHjsWoUaNkNebk5KBu3brYuHEjgBdPhw0KCkLDhg2hp6eH9u3bY/fu3Qp/UlQezs7OmDZtGj799FOYmZnB2tpa+nsHgNTUVEyaNAkWFhYwMjJC3759cfXqVdkYixcvhqWlJQwNDTFp0iR89tlnskshFy9eRL9+/VC3bl0YGxujd+/euHLlirTewcEBAPDOO+9ApVJJyy9fUjl69Chq165d6PLf9OnT0bdvX2n5zJkzePvtt6Gnpwc7OztMmzYNWVlZb/w5kXLe9Bj08fHBsGHDZGPOmDEDzs7O0vqTJ09i9erV0s+2uLg46effoUOH0LlzZ6jVapw5cwYxMTEYOnQorKysYGBggK5du+LYsWOV8ElULwwcNdSGDRugo6ODP/74A6tXr8aKFSvw73//G8CLf0yXLl3Cb7/9hvDwcAghMGDAAOTk5AAA/Pz8kJ2djVOnTuHatWv48ssvi/xfY/fu3bFq1SoYGRkhMTERiYmJmDVrVqF+Xl5e+P3335GZmSm1HTlyBE+ePME777wD4MU3+G7cuBFr167FjRs3MHPmTIwbNw4nT55U4uOhN7Rhwwbo6+vjwoULWLZsGRYtWoSQkBAAwLvvvouUlBQcOnQIly9fRqdOneDi4oJHjx4BALZs2YIlS5bgyy+/xOXLl9GgQQN8//33svEzMjLg7e2NM2fO4Pz582jatCkGDBiAjIwMAC8CCQCsW7cOiYmJ0vLLXFxcYGJigl9++UVqy8vLw44dO+Dl5QUAiImJgbu7Ozw9PREZGYkdO3bgzJkz8Pf3r/gPjSrUmxyDr7N69Wo4OTnB19dX+tn28reJf/bZZ1i6dClu3ryJdu3aITMzEwMGDEBoaCj+85//wN3dHYMHD0Z8fLwi+15tCapxevfuLVq2bCny8/OlttmzZ4uWLVuK//73vwKAOHv2rLTuwYMHQk9PT+zcuVMIIUTbtm3FggULihz7xIkTAoB4/PixEEKIdevWCWNj40L97O3txcqVK4UQQuTk5Ii6deuKjRs3SuvHjBkjRo0aJYQQ4tmzZ6JOnTri3LlzsjEmTpwoxowZU+b9J2X17t1b9OzZU9bWtWtXMXv2bHH69GlhZGQknj17JlvfuHFj8cMPPwghhHB0dBR+fn6y9T169BDt27cvdpt5eXnC0NBQ/P7771IbAPHrr7/K+s2fP182zvTp00Xfvn2l5SNHjgi1Wi0dvxMnThSTJ0+WjXH69GmhpaUlnj59Wmw9pFlvegx6e3uLoUOHytZPnz5d9O7dW7aN6dOny/oU/Pzbu3fva2ts3bq1WLNmjbT88s/Evyue4aihunXrBpVKJS07OTkhKioKf/75J3R0dODo6CitMzc3R/PmzXHz5k0AwLRp07B48WL06NED8+fPR2Rk5BvVoqOjg5EjR2LLli0AgKysLOzbt0/6X2Z0dDSePHmCfv36SdfgDQwMsHHjRsTExLzRtkkZ7dq1ky3b2NggJSUFV69eRWZmJszNzWV/l7GxsdLf5e3bt/HWW2/J3v/qcnJyMnx9fdG0aVMYGxvDyMgImZmZZf4fo5eXF8LCwpCQkADgxdmVgQMHShOdr169ivXr18tqdXNzQ35+PmJjY8u0Lapcb3IMvqkuXbrIljMzMzFr1iy0bNkSJiYmMDAwwM2bN3mG4xWc6UKFTJo0CW5ubjhw4ACOHj2KoKAgfP3115g6dWq5x/Ty8kLv3r2RkpKCkJAQ6Onpwd3dHQCkSy0HDhxAvXr1ZO/jdxpUTbVq1ZItq1Qq5OfnIzMzEzY2NggLCyv0nqLuZiqOt7c3Hj58iNWrV8Pe3h5qtRpOTk54/vx5mers2rUrGjdujO3bt+PDDz/Er7/+ivXr10vrMzMzMWXKFEybNq3Qexs0aFCmbVHlepNjUEtLS5rTVqDgknJp6Ovry5ZnzZqFkJAQLF++HE2aNIGenh5GjBhR5uO1pmPgqKEuXLggWy64Dt6qVSvk5ubiwoUL6N69OwDg4cOHuH37Nlq1aiX1t7OzwwcffIAPPvgAgYGB+Ne//lVk4NDV1UVeXt5r6+nevTvs7OywY8cOHDp0CO+++670A6NVq1ZQq9WIj49H796932S3ScM6deqEpKQk6OjoSBM5X9W8eXNcvHgR48ePl9penYNx9uxZfPfddxgwYAAA4O7du3jw4IGsT61atUp17Hl5eWHLli2oX78+tLS0MHDgQFm9f/75J5o0aVLaXaQqrjTHoIWFBa5fvy5ri4iIkIWY0v5sA14crz4+PtKctMzMTMTFxZWr/pqMl1RqqPj4eAQEBOD27dvYtm0b1qxZg+nTp6Np06YYOnQofH19cebMGVy9ehXjxo1DvXr1MHToUAAvZmsfOXIEsbGxuHLlCk6cOIGWLVsWuR0HBwdkZmYiNDQUDx48wJMnT4qtaezYsVi7di1CQkKkyykAYGhoiFmzZmHmzJnYsGEDYmJicOXKFaxZswYbNmyo2A+GFOXq6gonJycMGzYMR48eRVxcHM6dO4c5c+bg0qVLAICpU6fip59+woYNGxAVFYXFixcjMjJSdgmwadOm2LRpE27evIkLFy7Ay8sLenp6sm05ODggNDQUSUlJePz4cbE1eXl54cqVK1iyZAlGjBghO2s2e/ZsnDt3Dv7+/oiIiEBUVBT27dvHSaPVWGmOwb59++LSpUvYuHEjoqKiMH/+/EIBxMHBARcuXEBcXBwePHiA/Pz8YrfZtGlT7NmzBxEREbh69SrGjh1bYv+/KwaOGmr8+PF4+vQp3nrrLfj5+WH69OnSg7jWrVuHzp07Y9CgQXBycoIQAgcPHpTSfV5eHvz8/NCyZUu4u7ujWbNm+O6774rcTvfu3fHBBx9g1KhRsLCwwLJly4qtycvLC3/++Sfq1auHHj16yNZ98cUXmDt3LoKCgqTtHjhwAA0bNqygT4Qqg0qlwsGDB9GrVy9MmDABzZo1w+jRo3Hnzh1YWVkBeHEcBAYGYtasWejUqRNiY2Ph4+OD2rVrS+P89NNPePz4MTp16oT33nsP06ZNg6WlpWxbX3/9NUJCQmBnZ4eOHTsWW1OTJk3w1ltvITIyUhZ0gRfzAE6ePIn//ve/ePvtt9GxY0fMmzcPtra2FfipUGUqzTHo5uaGuXPn4tNPP0XXrl2RkZEhO+MGvLhMoq2tjVatWsHCwqLE+RgrVqyAqakpunfvjsGDB8PNzQ2dOnVSdD+rI349fQ3k7OyMDh06/O0fo0vVR79+/WBtbY1NmzZpuhQiUgjncBBRpXry5AnWrl0LNzc3aGtrY9u2bTh27Jj0DAUiqpkYOIioUhWc8l6yZAmePXuG5s2b45dffoGrq6umSyMiBfGSChERESmOk0aJiIhIcQwcREREpDgGDiIiIlIcAwcREREpjoGDiIiIFMfAQURVTlhYGFQqFVJTUzVdChFVEAYOIirW/fv38eGHH6JBgwZQq9WwtraGm5sbzp49W2HbcHZ2xowZM2Rt3bt3R2JiIoyNjStsO+Xl4+ODYcOGaboMomqPD/4iomJ5enri+fPn2LBhAxo1aoTk5GSEhobi4cOHim5XV1cX1tbWim6DiCqZICIqwuPHjwUAERYWVmKfiRMnirp16wpDQ0PRp08fERERIa2fP3++aN++vdi4caOwt7cXRkZGYtSoUSI9PV0IIYS3t7cAIHvFxsaKEydOCADi8ePHQggh1q1bJ4yNjcXvv/8umjVrJvT09ISnp6fIysoS69evF/b29sLExERMnTpV5ObmStt/9uyZ+Pjjj4Wtra2oU6eOeOutt8SJEyek9QXjHj58WLRo0ULo6+sLNzc3kZCQINX/an0vv5+ISo+XVIioSAYGBjAwMMDevXuRnZ1dZJ93330XKSkpOHToEC5fvoxOnTrBxcUFjx49kvrExMRg79692L9/P/bv34+TJ09i6dKlAIDVq1fDyckJvr6+SExMRGJiIuzs7Irc1pMnT/DNN99g+/btOHz4MMLCwvDOO+/g4MGDOHjwIDZt2oQffvgBu3fvlt7j7++P8PBwbN++HZGRkXj33Xfh7u6OqKgo2bjLly/Hpk2bcOrUKcTHx2PWrFkAXnxj6MiRI+Hu7i7V17179zf+bIn+ljSdeIio6tq9e7cwNTUVtWvXFt27dxeBgYHi6tWrQgghTp8+LYyMjMSzZ89k72ncuLH44YcfhBAvzhDUqVNHOqMhhBCffPKJcHR0lJZ79+4tpk+fLhujqDMcAER0dLTUZ8qUKaJOnToiIyNDanNzcxNTpkwRQghx584doa2tLe7duycb28XFRQQGBhY7bnBwsLCyspKWvb29xdChQ0v1eRFR8TiHg4iK5enpiYEDB+L06dM4f/48Dh06hGXLluHf//43srKykJmZCXNzc9l7nj59ipiYGGnZwcEBhoaG0rKNjQ1SUlLKXEudOnXQuHFjadnKygoODg4wMDCQtRWMfe3aNeTl5aFZs2aycbKzs2U1vzpueesjopIxcBBRiWrXro1+/fqhX79+mDt3LiZNmoT58+fjo48+go2NDcLCwgq9x8TERPpzrVq1ZOtUKhXy8/PLXEdR45Q0dmZmJrS1tXH58mVoa2vL+r0cUooaQ/A7LYkqHAMHEZVJq1atsHfvXnTq1AlJSUnQ0dGBg4NDucfT1dVFXl5exRX4fzp27Ii8vDykpKTg7bffLvc4StVH9HfDSaNEVKSHDx+ib9++2Lx5MyIjIxEbG4tdu3Zh2bJlGDp0KFxdXeHk5IRhw4bh6NGjiIuLw7lz5zBnzhxcunSp1NtxcHDAhQsXEBcXhwcPHpTr7EdRmjVrBi8vL4wfPx579uxBbGws/vjjDwQFBeHAgQNlqi8yMhK3b9/GgwcPkJOTUyH1Ef3dMHAQUZEMDAzg6OiIlStXolevXmjTpg3mzp0LX19ffPvtt1CpVDh48CB69eqFCRMmoFmzZhg9ejTu3LkDKyurUm9n1qxZ0NbWRqtWrWBhYYH4+PgK24d169Zh/Pjx+Pjjj9G8eXMMGzYMFy9eRIMGDUo9hq+vL5o3b44uXbrAwsKiQh96RvR3ohK8WElEREQK4xkOIiIiUhwDBxERESmOgYOIiIgUx8BBREREimPgICIiIsUxcBAREZHiGDiIiIhIcQwcREREpDgGDiIiIlIcAwcREREpjoGDiIiIFPf/AJDk/tFlM6Wa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75" y="1108934"/>
            <a:ext cx="4909182" cy="3572793"/>
          </a:xfrm>
          <a:prstGeom prst="rect">
            <a:avLst/>
          </a:prstGeom>
        </p:spPr>
      </p:pic>
      <p:sp>
        <p:nvSpPr>
          <p:cNvPr id="7" name="TextBox 6"/>
          <p:cNvSpPr txBox="1"/>
          <p:nvPr/>
        </p:nvSpPr>
        <p:spPr>
          <a:xfrm>
            <a:off x="5217157" y="2156666"/>
            <a:ext cx="7851648" cy="1477328"/>
          </a:xfrm>
          <a:prstGeom prst="rect">
            <a:avLst/>
          </a:prstGeom>
          <a:noFill/>
        </p:spPr>
        <p:txBody>
          <a:bodyPr wrap="square" rtlCol="0">
            <a:spAutoFit/>
          </a:bodyPr>
          <a:lstStyle/>
          <a:p>
            <a:r>
              <a:rPr lang="en-US" dirty="0">
                <a:latin typeface="Bahnschrift SemiCondensed" panose="020B0502040204020203" pitchFamily="34" charset="0"/>
              </a:rPr>
              <a:t> </a:t>
            </a:r>
            <a:r>
              <a:rPr lang="en-US" dirty="0" smtClean="0">
                <a:latin typeface="Bahnschrift SemiCondensed" panose="020B0502040204020203" pitchFamily="34" charset="0"/>
              </a:rPr>
              <a:t>Bar chart distribution</a:t>
            </a:r>
          </a:p>
          <a:p>
            <a:r>
              <a:rPr lang="en-US" dirty="0" smtClean="0">
                <a:latin typeface="Bahnschrift SemiCondensed" panose="020B0502040204020203" pitchFamily="34" charset="0"/>
              </a:rPr>
              <a:t>- Neutral </a:t>
            </a:r>
            <a:r>
              <a:rPr lang="en-US" dirty="0">
                <a:latin typeface="Bahnschrift SemiCondensed" panose="020B0502040204020203" pitchFamily="34" charset="0"/>
              </a:rPr>
              <a:t>posts are the most frequent</a:t>
            </a:r>
          </a:p>
          <a:p>
            <a:r>
              <a:rPr lang="en-US" dirty="0" smtClean="0">
                <a:latin typeface="Bahnschrift SemiCondensed" panose="020B0502040204020203" pitchFamily="34" charset="0"/>
              </a:rPr>
              <a:t>- Followed </a:t>
            </a:r>
            <a:r>
              <a:rPr lang="en-US" dirty="0">
                <a:latin typeface="Bahnschrift SemiCondensed" panose="020B0502040204020203" pitchFamily="34" charset="0"/>
              </a:rPr>
              <a:t>by positive posts</a:t>
            </a:r>
          </a:p>
          <a:p>
            <a:r>
              <a:rPr lang="en-US" dirty="0" smtClean="0">
                <a:latin typeface="Bahnschrift SemiCondensed" panose="020B0502040204020203" pitchFamily="34" charset="0"/>
              </a:rPr>
              <a:t>- Negative </a:t>
            </a:r>
            <a:r>
              <a:rPr lang="en-US" dirty="0">
                <a:latin typeface="Bahnschrift SemiCondensed" panose="020B0502040204020203" pitchFamily="34" charset="0"/>
              </a:rPr>
              <a:t>is the least</a:t>
            </a:r>
          </a:p>
          <a:p>
            <a:endParaRPr lang="en-US" dirty="0">
              <a:latin typeface="Bahnschrift SemiCondensed" panose="020B0502040204020203" pitchFamily="34" charset="0"/>
            </a:endParaRPr>
          </a:p>
        </p:txBody>
      </p:sp>
    </p:spTree>
    <p:extLst>
      <p:ext uri="{BB962C8B-B14F-4D97-AF65-F5344CB8AC3E}">
        <p14:creationId xmlns:p14="http://schemas.microsoft.com/office/powerpoint/2010/main" val="107729023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descr="data:image/png;base64,iVBORw0KGgoAAAANSUhEUgAAAhwAAAGJCAYAAADBveoRAAAAOXRFWHRTb2Z0d2FyZQBNYXRwbG90bGliIHZlcnNpb24zLjcuMiwgaHR0cHM6Ly9tYXRwbG90bGliLm9yZy8pXeV/AAAACXBIWXMAAA9hAAAPYQGoP6dpAABA70lEQVR4nO3dd1QV1/428OcAckQ6SFUEe+8aRI2ioIA9YmwYwSiaBGzExHCNNXoxxlhiSEzuTezdGE3siGJFY7mIGvUCF8RIs1FVpOz3D3/M60gRkOEAeT5rnbWcPfvs+c5xhMeZPXNUQggBIiIiIgVpaboAIiIiqvkYOIiIiEhxDBxERESkOAYOIiIiUhwDBxERESmOgYOIiIgUx8BBREREimPgICIiIsUxcBAREZHiGDioRliwYAFUKlWlbMvZ2RnOzs7SclhYGFQqFXbv3l0p2/fx8YGDg0OlbKu8MjMzMWnSJFhbW0OlUmHGjBmaLqlM4uLioFKpsH79ek2XUmUV/Jt78OBBhY1ZHY5tKj8GDqpy1q9fD5VKJb1q164NW1tbuLm54ZtvvkFGRkaFbCchIQELFixAREREhYxXkapybaXxz3/+E+vXr8eHH36ITZs24b333iu27/Pnz7F69Wp07NgRRkZGMDExQevWrTF58mTcunVL0Tq3bt2KVatWKboNJR08eBALFiwodX9nZ2e0adNGuYKISqCj6QKIirNo0SI0bNgQOTk5SEpKQlhYGGbMmIEVK1bgt99+Q7t27aS+n3/+OT777LMyjZ+QkICFCxfCwcEBHTp0KPX7jh49WqbtlEdJtf3rX/9Cfn6+4jW8iePHj6Nbt26YP3/+a/t6enri0KFDGDNmDHx9fZGTk4Nbt25h//796N69O1q0aKFYnVu3bsX169cLnYGxt7fH06dPUatWLcW2XREOHjyI4ODgMoUOIk1h4KAqy8PDA126dJGWAwMDcfz4cQwaNAhDhgzBzZs3oaenBwDQ0dGBjo6yh/OTJ09Qp04d6OrqKrqd16nqvwQBICUlBa1atXptv4sXL2L//v1YsmQJ/vGPf8jWffvtt0hNTVWowpIVnFkjoorDSypUrfTt2xdz587FnTt3sHnzZqm9qDkcISEh6NmzJ0xMTGBgYIDmzZtLv9TCwsLQtWtXAMCECROkyzcF1+wLTj1fvnwZvXr1Qp06daT3vjqHo0BeXh7+8Y9/wNraGvr6+hgyZAju3r0r6+Pg4AAfH59C7315zNfVVtR17qysLHz88cews7ODWq1G8+bNsXz5crz6ZdAqlQr+/v7Yu3cv2rRpA7VajdatW+Pw4cNFf+CvSElJwcSJE2FlZYXatWujffv22LBhg7S+YD5LbGwsDhw4INUeFxdX5HgxMTEAgB49ehRap62tDXNzc1nbvXv38P7778PKykqq/eeff5b1Kahh586dWLJkCerXr4/atWvDxcUF0dHRUj9nZ2ccOHAAd+7ckeos+FyLmsPh4+MDAwMDxMfHY9CgQTAwMEC9evUQHBwMALh27Rr69u0LfX192NvbY+vWrYX2KTU1FTNmzJD+npo0aYIvv/xSdsaqYNvLly/Hjz/+iMaNG0OtVqNr1664ePGirJ6Cbb98CfJNRUZGwsfHB40aNULt2rVhbW2N999/Hw8fPiyy/4MHDzBy5EgYGRnB3Nwc06dPx7Nnzwr127x5Mzp37gw9PT2YmZlh9OjRhf59FGX79u3o3LkzDA0NYWRkhLZt22L16tVvvJ9U+XiGg6qd9957D//4xz9w9OhR+Pr6Ftnnxo0bGDRoENq1a4dFixZBrVYjOjoaZ8+eBQC0bNkSixYtwrx58zB58mS8/fbbAIDu3btLYzx8+BAeHh4YPXo0xo0bBysrqxLrWrJkCVQqFWbPno2UlBSsWrUKrq6uiIiIkM7ElEZpanuZEAJDhgzBiRMnMHHiRHTo0AFHjhzBJ598gnv37mHlypWy/mfOnMGePXvw0UcfwdDQEN988w08PT0RHx9f6Bf8y54+fQpnZ2dER0fD398fDRs2xK5du+Dj44PU1FRMnz4dLVu2xKZNmzBz5kzUr18fH3/8MQDAwsKiyDHt7e0BAFu2bEGPHj1KPEuVnJyMbt26SaHJwsIChw4dwsSJE5Genl7ossjSpUuhpaWFWbNmIS0tDcuWLYOXlxcuXLgAAJgzZw7S0tLw119/SZ+RgYFBsdsHXoRKDw8P9OrVC8uWLcOWLVvg7+8PfX19zJkzB15eXhg+fDjWrl2L8ePHw8nJCQ0bNgTw4gxZ7969ce/ePUyZMgUNGjTAuXPnEBgYiMTExEJzSbZu3YqMjAxMmTIFKpUKy5Ytw/Dhw/G///0PtWrVwpQpU5CQkICQkBBs2rSpxLrLIiQkBP/73/8wYcIEWFtb48aNG/jxxx9x48YNnD9/vlCoGTlyJBwcHBAUFITz58/jm2++wePHj7Fx40apz5IlSzB37lyMHDkSkyZNwv3797FmzRr06tUL//nPf2BiYlJsLWPGjIGLiwu+/PJLAMDNmzdx9uxZTJ8+vcL2mSqJIKpi1q1bJwCIixcvFtvH2NhYdOzYUVqeP3++ePlwXrlypQAg7t+/X+wYFy9eFADEunXrCq3r3bu3ACDWrl1b5LrevXtLyydOnBAARL169UR6errUvnPnTgFArF69Wmqzt7cX3t7erx2zpNq8vb2Fvb29tLx3714BQCxevFjWb8SIEUKlUono6GipDYDQ1dWVtV29elUAEGvWrCm0rZetWrVKABCbN2+W2p4/fy6cnJyEgYGBbN/t7e3FwIEDSxxPCCHy8/Olz9rKykqMGTNGBAcHizt37hTqO3HiRGFjYyMePHggax89erQwNjYWT548EUL8/7+Pli1biuzsbKnf6tWrBQBx7do1qW3gwIGyz7JAbGxsoc/f29tbABD//Oc/pbbHjx8LPT09oVKpxPbt26X2W7duCQBi/vz5UtsXX3wh9PX1xX//+1/Ztj777DOhra0t4uPjZds2NzcXjx49kvrt27dPABC///671Obn5yfK8mO8d+/eonXr1iX2KfgcX7Zt2zYBQJw6dUpqK/g3N2TIEFnfjz76SAAQV69eFUIIERcXJ7S1tcWSJUtk/a5duyZ0dHRk7a8e29OnTxdGRkYiNze31PtIVRcvqVC1ZGBgUOLdKgX/Y9q3b1+5J1iq1WpMmDCh1P3Hjx8PQ0NDaXnEiBGwsbHBwYMHy7X90jp48CC0tbUxbdo0WfvHH38MIQQOHToka3d1dUXjxo2l5Xbt2sHIyAj/+9//Xrsda2trjBkzRmqrVasWpk2bhszMTJw8ebLMtatUKhw5cgSLFy+Gqakptm3bBj8/P9jb22PUqFHSHA4hBH755RcMHjwYQgg8ePBAerm5uSEtLQ1XrlyRjT1hwgTZfJuCM0Wv28/XmTRpkvRnExMTNG/eHPr6+hg5cqTU3rx5c5iYmMi2tWvXLrz99tswNTWV1e/q6oq8vDycOnVKtp1Ro0bB1NS0wut/nZfPxj179gwPHjxAt27dAKDQZwwAfn5+suWpU6cCgHTc79mzB/n5+Rg5cqRsv62trdG0aVOcOHGi2FpMTEyQlZWFkJCQN94v0jwGDqqWMjMzZb/cXzVq1Cj06NEDkyZNgpWVFUaPHo2dO3eWKXzUq1evTBNEmzZtKltWqVRo0qRJsfMXKsqdO3dga2tb6PNo2bKltP5lDRo0KDSGqakpHj9+/NrtNG3aFFpa8h8bxW2ntNRqNebMmYObN28iISEB27ZtQ7du3bBz5074+/sDAO7fv4/U1FT8+OOPsLCwkL0KQmFKSkqJ+1nwy/t1+1mS2rVrF7o8ZGxsjPr16xe61GBsbCzbVlRUFA4fPlyofldX10qrvzQePXqE6dOnw8rKCnp6erCwsJAuC6WlpRXq/+px37hxY2hpaUnHfVRUFIQQaNq0aaF9v3nzZqH9ftlHH32EZs2awcPDA/Xr18f7779f6vlGVPVwDgdVO3/99RfS0tLQpEmTYvvo6enh1KlTOHHiBA4cOIDDhw9jx44d6Nu3L44ePQptbe3Xbqcs8y5Kq7hJfXl5eaWqqSIUtx3xygRTTbCxscHo0aPh6emJ1q1bY+fOnVi/fr0UFMeNGwdvb+8i3/vybdKAMvtZ3Jil2VZ+fj769euHTz/9tMi+zZo1K/OYShg5ciTOnTuHTz75BB06dICBgQHy8/Ph7u5eqsD+6jGen58PlUqFQ4cOFblPJc2bsbS0REREBI4cOYJDhw7h0KFDWLduHcaPHy+brEzVAwMHVTsFE+Tc3NxK7KelpQUXFxe4uLhgxYoV+Oc//4k5c+bgxIkTcHV1rfAnk0ZFRcmWhRCIjo6W/SI0NTUt8lbPO3fuoFGjRtJyWWqzt7fHsWPHkJGRITvLUfDQrIKJmW/K3t4ekZGRyM/Pl53lqOjtAC8u1bRr1w5RUVF48OABLCwsYGhoiLy8POmMQEWorKfTAi/+55+ZmVml63/8+DFCQ0OxcOFCzJs3T2p/9dh+WVRUlHQGBACio6ORn58v3fHTuHFjCCHQsGHDQqGqNHR1dTF48GAMHjwY+fn5+Oijj/DDDz9g7ty5Jf6ng6oeXlKhauX48eP44osv0LBhQ3h5eRXb79GjR4XaCh6glZ2dDQDQ19cHgAp71sPGjRtl80p2796NxMREeHh4SG2NGzfG+fPn8fz5c6lt//79hW4PLEttAwYMQF5eHr799ltZ+8qVK6FSqWTbfxMDBgxAUlISduzYIbXl5uZizZo1MDAwQO/evcs8ZlRUFOLj4wu1p6amIjw8HKamprCwsIC2tjY8PT3xyy+/4Pr164X6379/v8zbBl58zkVdJlDCyJEjER4ejiNHjhRal5qaitzc3DKPWdHHcMEZiFfPopT0NNaCW3MLrFmzBgCk42748OHQ1tbGwoULC40rhCj2dlsAhdZpaWlJAb7g3zFVHzzDQVXWoUOHcOvWLeTm5iI5ORnHjx9HSEgI7O3t8dtvv5X4YKZFixbh1KlTGDhwIOzt7ZGSkoLvvvsO9evXR8+ePQG8+OVvYmKCtWvXwtDQEPr6+nB0dJT9b60szMzM0LNnT0yYMAHJyclYtWoVmjRpIrt1d9KkSdi9ezfc3d0xcuRIxMTEYPPmzbJJnGWtbfDgwejTpw/mzJmDuLg4tG/fHkePHsW+ffswY8aMQmOX1+TJk/HDDz/Ax8cHly9fhoODA3bv3o2zZ89i1apVJc6pKc7Vq1cxduxYeHh44O2334aZmRnu3buHDRs2ICEhAatWrZJ+CS5duhQnTpyAo6MjfH190apVKzx69AhXrlzBsWPHigyZr9O5c2fs2LEDAQEB6Nq1KwwMDDB48OAyj1Man3zyCX777TcMGjQIPj4+6Ny5M7KysnDt2jXs3r0bcXFxqFu3bpnrB4Bp06bBzc0N2traGD16dInvuX//PhYvXlyovSDEF9zym5OTg3r16uHo0aOIjY0tdrzY2FgMGTIE7u7uCA8Px+bNmzF27Fi0b98ewItjefHixQgMDERcXByGDRsGQ0NDxMbG4tdff8XkyZMxa9asIseeNGkSHj16hL59+6J+/fq4c+cO1qxZgw4dOkhzh6ga0ci9MUQlKLgttuClq6srrK2tRb9+/cTq1atlt18WePW22NDQUDF06FBha2srdHV1ha2trRgzZkyhWxL37dsnWrVqJXR0dGS3QZZ0+2Bxt8Vu27ZNBAYGCktLS6GnpycGDhxY5O2dX3/9tahXr55Qq9WiR48e4tKlS4XGLKm2V28dFEKIjIwMMXPmTGFraytq1aolmjZtKr766iuRn58v6wdA+Pn5FaqpuNt1X5WcnCwmTJgg6tatK3R1dUXbtm2LvHW3tLfFJicni6VLl4revXsLGxsboaOjI0xNTUXfvn3F7t27i+zv5+cn7OzsRK1atYS1tbVwcXERP/74o9Sn4O9j165dsvcWdatrZmamGDt2rDAxMREApM+1uNti9fX1C9VU3LFS1GeQkZEhAgMDRZMmTYSurq6oW7eu6N69u1i+fLl4/vy5bNtfffVVoTHxyq22ubm5YurUqcLCwkKoVKrX3iJbcAtyUS8XFxchhBB//fWXeOedd4SJiYkwNjYW7777rkhISCi07YJ/c3/++acYMWKEMDQ0FKampsLf3188ffq00LZ/+eUX0bNnT6Gvry/09fVFixYthJ+fn7h9+7bsM3752N69e7fo37+/sLS0FLq6uqJBgwZiypQpIjExscT9pKpJJUQVmClGRERENRrncBAREZHiGDiIiIhIcQwcREREpDgGDiIiIlIcAwcREREpjoGDiIiIFMcHf+HFs/4TEhJgaGhYqY86JiIiqu6EEMjIyICtrW2hL3d8GQMHgISEBNjZ2Wm6DCIiomrr7t27qF+/frHrGTgA6ZHMd+/ehZGRkYarISIiqj7S09NhZ2f32q83YODA///GRSMjIwYOIiKicnjdlAROGiUiIiLFMXAQERGR4hg4iIiISHEMHERERKQ4Bg4iIiJSHAMHERERKU6jgSMoKAhdu3aFoaEhLC0tMWzYMNy+fVvW59mzZ/Dz84O5uTkMDAzg6emJ5ORkWZ/4+HgMHDgQderUgaWlJT755BPk5uZW5q4QERFRCTQaOE6ePAk/Pz+cP38eISEhyMnJQf/+/ZGVlSX1mTlzJn7//Xfs2rULJ0+eREJCAoYPHy6tz8vLw8CBA/H8+XOcO3cOGzZswPr16zFv3jxN7BIREREVQSWEEJouosD9+/dhaWmJkydPolevXkhLS4OFhQW2bt2KESNGAABu3bqFli1bIjw8HN26dcOhQ4cwaNAgJCQkwMrKCgCwdu1azJ49G/fv34euru5rt5ueng5jY2OkpaXxwV9ERERlUNrfoVVqDkdaWhoAwMzMDABw+fJl5OTkwNXVVerTokULNGjQAOHh4QCA8PBwtG3bVgobAODm5ob09HTcuHGjyO1kZ2cjPT1d9iIiIiLlVJnAkZ+fjxkzZqBHjx5o06YNACApKQm6urowMTGR9bWyskJSUpLU5+WwUbC+YF1RgoKCYGxsLL34xW1ERETKqjLfpeLn54fr16/jzJkzim8rMDAQAQEB0nLBF88QEdELPdb00HQJVInOTj2r+DaqRODw9/fH/v37cerUKdlX21pbW+P58+dITU2VneVITk6GtbW11OePP/6QjVdwF0tBn1ep1Wqo1eoK3gsiIiIqjkYvqQgh4O/vj19//RXHjx9Hw4YNZes7d+6MWrVqITQ0VGq7ffs24uPj4eTkBABwcnLCtWvXkJKSIvUJCQmBkZERWrVqVTk7QkRERCXS6BkOPz8/bN26Ffv27YOhoaE058LY2Bh6enowNjbGxIkTERAQADMzMxgZGWHq1KlwcnJCt27dAAD9+/dHq1at8N5772HZsmVISkrC559/Dj8/P57FICIiqiI0Gji+//57AICzs7Osfd26dfDx8QEArFy5ElpaWvD09ER2djbc3Nzw3XffSX21tbWxf/9+fPjhh3BycoK+vj68vb2xaNGiytoNIiIieo0q9RwOTeFzOIiI5Dhp9O/lTSaNVsvncBAREVHNxMBBREREimPgICIiIsUxcBAREZHiGDiIiIhIcQwcREREpDgGDiIiIlIcAwcREREpjoGDiIiIFMfAQURERIpj4CAiIiLFMXAQERGR4hg4iIiISHEMHERERKQ4Bg4iIiJSHAMHERERKY6Bg4iIiBTHwEFERESKY+AgIiIixTFwEBERkeIYOIiIiEhxDBxERESkOAYOIiIiUhwDBxERESmOgYOIiIgUx8BBREREitNo4Dh16hQGDx4MW1tbqFQq7N27V7ZepVIV+frqq6+kPg4ODoXWL126tJL3hIiIiEqi0cCRlZWF9u3bIzg4uMj1iYmJstfPP/8MlUoFT09PWb9FixbJ+k2dOrUyyiciIqJS0tHkxj08PODh4VHsemtra9nyvn370KdPHzRq1EjWbmhoWKgvERERVR3VZg5HcnIyDhw4gIkTJxZat3TpUpibm6Njx4746quvkJubW+JY2dnZSE9Pl72IiIhIORo9w1EWGzZsgKGhIYYPHy5rnzZtGjp16gQzMzOcO3cOgYGBSExMxIoVK4odKygoCAsXLlS6ZCIiIvo/1SZw/Pzzz/Dy8kLt2rVl7QEBAdKf27VrB11dXUyZMgVBQUFQq9VFjhUYGCh7X3p6Ouzs7JQpnIiIiKpH4Dh9+jRu376NHTt2vLavo6MjcnNzERcXh+bNmxfZR61WFxtGiIiIqOJVizkcP/30Ezp37oz27du/tm9ERAS0tLRgaWlZCZURERFRaWj0DEdmZiaio6Ol5djYWERERMDMzAwNGjQA8OJyx65du/D1118Xen94eDguXLiAPn36wNDQEOHh4Zg5cybGjRsHU1PTStsPIiIiKplGA8elS5fQp08fablgXoW3tzfWr18PANi+fTuEEBgzZkyh96vVamzfvh0LFixAdnY2GjZsiJkzZ8rmZxAREZHmqYQQQtNFaFp6ejqMjY2RlpYGIyMjTZdDRKRxPdb00HQJVInOTj1b7veW9ndotZjDQURERNUbAwcREREpjoGDiIiIFMfAQURERIpj4CAiIiLFMXAQERGR4qrFo82rus6fbNR0CVSJLn81XtMlEBFVOzzDQURERIpj4CAiIiLFMXAQERGR4hg4iIiISHEMHERERKQ4Bg4iIiJSHAMHERERKY6Bg4iIiBTHwEFERESKY+AgIiIixTFwEBERkeIYOIiIiEhxDBxERESkOAYOIiIiUhwDBxERESmOgYOIiIgUx8BBREREimPgICIiIsUxcBAREZHiNBo4Tp06hcGDB8PW1hYqlQp79+6Vrffx8YFKpZK93N3dZX0ePXoELy8vGBkZwcTEBBMnTkRmZmYl7gURERG9jkYDR1ZWFtq3b4/g4OBi+7i7uyMxMVF6bdu2Tbbey8sLN27cQEhICPbv349Tp05h8uTJSpdOREREZaCjyY17eHjAw8OjxD5qtRrW1tZFrrt58yYOHz6MixcvokuXLgCANWvWYMCAAVi+fDlsbW0rvGYiIiIquyo/hyMsLAyWlpZo3rw5PvzwQzx8+FBaFx4eDhMTEylsAICrqyu0tLRw4cKFYsfMzs5Genq67EVERETKqdKBw93dHRs3bkRoaCi+/PJLnDx5Eh4eHsjLywMAJCUlwdLSUvYeHR0dmJmZISkpqdhxg4KCYGxsLL3s7OwU3Q8iIqK/O41eUnmd0aNHS39u27Yt2rVrh8aNGyMsLAwuLi7lHjcwMBABAQHScnp6OkMHERGRgqr0GY5XNWrUCHXr1kV0dDQAwNraGikpKbI+ubm5ePToUbHzPoAX80KMjIxkLyIiIlJOtQocf/31Fx4+fAgbGxsAgJOTE1JTU3H58mWpz/Hjx5Gfnw9HR0dNlUlERESv0OgllczMTOlsBQDExsYiIiICZmZmMDMzw8KFC+Hp6Qlra2vExMTg008/RZMmTeDm5gYAaNmyJdzd3eHr64u1a9ciJycH/v7+GD16NO9QISIiqkI0eobj0qVL6NixIzp27AgACAgIQMeOHTFv3jxoa2sjMjISQ4YMQbNmzTBx4kR07twZp0+fhlqtlsbYsmULWrRoARcXFwwYMAA9e/bEjz/+qKldIiIioiJo9AyHs7MzhBDFrj9y5MhrxzAzM8PWrVsrsiwiIiKqYNVqDgcRERFVTwwcREREpDgGDiIiIlIcAwcREREpjoGDiIiIFMfAQURERIpj4CAiIiLFMXAQERGR4hg4iIiISHEMHERERKQ4Bg4iIiJSHAMHERERKY6Bg4iIiBTHwEFERESKY+AgIiIixTFwEBERkeJ0NF0AEZVe/KK2mi6BKlGDedc0XQJRheEZDiIiIlIcAwcREREpjoGDiIiIFMfAQURERIpj4CAiIiLFMXAQERGR4hg4iIiISHEMHERERKQ4Bg4iIiJSnEYDx6lTpzB48GDY2tpCpVJh79690rqcnBzMnj0bbdu2hb6+PmxtbTF+/HgkJCTIxnBwcIBKpZK9li5dWsl7QkRERCXRaODIyspC+/btERwcXGjdkydPcOXKFcydOxdXrlzBnj17cPv2bQwZMqRQ30WLFiExMVF6TZ06tTLKJyIiolLS6HepeHh4wMPDo8h1xsbGCAkJkbV9++23eOuttxAfH48GDRpI7YaGhrC2ti71drOzs5GdnS0tp6enl7FyIiIiKotqNYcjLS0NKpUKJiYmsvalS5fC3NwcHTt2xFdffYXc3NwSxwkKCoKxsbH0srOzU7BqIiIiqjbfFvvs2TPMnj0bY8aMgZGRkdQ+bdo0dOrUCWZmZjh37hwCAwORmJiIFStWFDtWYGAgAgICpOX09HSGDiIiIgVVi8CRk5ODkSNHQgiB77//Xrbu5eDQrl076OrqYsqUKQgKCoJarS5yPLVaXew6IiIiqnhV/pJKQdi4c+cOQkJCZGc3iuLo6Ijc3FzExcVVToFERET0WlX6DEdB2IiKisKJEydgbm7+2vdERERAS0sLlpaWlVAhERERlYZGA0dmZiaio6Ol5djYWERERMDMzAw2NjYYMWIErly5gv379yMvLw9JSUkAADMzM+jq6iI8PBwXLlxAnz59YGhoiPDwcMycORPjxo2DqamppnaLiIiIXqHRwHHp0iX06dNHWi6Yj+Ht7Y0FCxbgt99+AwB06NBB9r4TJ07A2dkZarUa27dvx4IFC5CdnY2GDRti5syZsnkdREREpHkaDRzOzs4QQhS7vqR1ANCpUyecP3++ossiIiKiClblJ40SERFR9cfAQURERIpj4CAiIiLFMXAQERGR4hg4iIiISHHlChyNGjXCw4cPC7WnpqaiUaNGb1wUERER1SzlChxxcXHIy8sr1J6dnY179+69cVFERERUs5TpORwFD+ICgCNHjsDY2FhazsvLQ2hoKBwcHCqsOCIiIqoZyhQ4hg0bBgBQqVTw9vaWratVqxYcHBzw9ddfV1hxREREVDOUKXDk5+cDABo2bIiLFy+ibt26ihRFRERENUu5Hm0eGxtb0XUQERFRDVbu71IJDQ1FaGgoUlJSpDMfBX7++ec3LoyIiIhqjnIFjoULF2LRokXo0qULbGxsoFKpKrouIiIiqkHKFTjWrl2L9evX47333qvoeoiIiKgGKtdzOJ4/f47u3btXdC1ERERUQ5UrcEyaNAlbt26t6FqIiIiohirXJZVnz57hxx9/xLFjx9CuXTvUqlVLtn7FihUVUhwRERHVDOUKHJGRkejQoQMA4Pr167J1nEBKRERErypX4Dhx4kRF10FEREQ1GL+enoiIiBRXrjMcffr0KfHSyfHjx8tdEBEREdU85QocBfM3CuTk5CAiIgLXr18v9KVuREREROUKHCtXriyyfcGCBcjMzHyjgoiIiKjmqdA5HOPGjeP3qBAREVEhFRo4wsPDUbt27YockoiIiGqAcgWO4cOHy17vvPMOunXrhgkTJmDKlCmlHufUqVMYPHgwbG1toVKpsHfvXtl6IQTmzZsHGxsb6OnpwdXVFVFRUbI+jx49gpeXF4yMjGBiYoKJEyfysg4REVEVU67AYWxsLHuZmZnB2dkZBw8exPz580s9TlZWFtq3b4/g4OAi1y9btgzffPMN1q5diwsXLkBfXx9ubm549uyZ1MfLyws3btxASEgI9u/fj1OnTmHy5Mnl2S0iIiJSSLkmja5bt65CNu7h4QEPD48i1wkhsGrVKnz++ecYOnQoAGDjxo2wsrLC3r17MXr0aNy8eROHDx/GxYsX0aVLFwDAmjVrMGDAACxfvhy2trYVUicRERG9mTeaw3H58mVs3rwZmzdvxn/+85+KqgkAEBsbi6SkJLi6ukptxsbGcHR0RHh4OIAXc0ZMTEyksAEArq6u0NLSwoULF4odOzs7G+np6bIXERERKadcZzhSUlIwevRohIWFwcTEBACQmpqKPn36YPv27bCwsHjjwpKSkgAAVlZWsnYrKytpXVJSEiwtLWXrdXR0YGZmJvUpSlBQEBYuXPjGNRIREVHplOsMx9SpU5GRkYEbN27g0aNHePToEa5fv4709HRMmzatomuscIGBgUhLS5Ned+/e1XRJRERENVq5znAcPnwYx44dQ8uWLaW2Vq1aITg4GP3796+QwqytrQEAycnJsLGxkdqTk5OlJ51aW1sjJSVF9r7c3Fw8evRIen9R1Go11Gp1hdRJREREr1euMxz5+fmoVatWofZatWohPz//jYsCgIYNG8La2hqhoaFSW3p6Oi5cuAAnJycAgJOTE1JTU3H58mWpz/Hjx5Gfnw9HR8cKqYOIiIjeXLkCR9++fTF9+nQkJCRIbffu3cPMmTPh4uJS6nEyMzMRERGBiIgIAC8mikZERCA+Ph4qlQozZszA4sWL8dtvv+HatWsYP348bG1tMWzYMABAy5Yt4e7uDl9fX/zxxx84e/Ys/P39MXr0aN6hQkREVIWU65LKt99+iyFDhsDBwQF2dnYAgLt376JNmzbYvHlzqce5dOkS+vTpIy0HBAQAALy9vbF+/Xp8+umnyMrKwuTJk5GamoqePXvi8OHDsqeZbtmyBf7+/nBxcYGWlhY8PT3xzTfflGe3iIiISCHlChx2dna4cuUKjh07hlu3bgF4cbbh5VtYS8PZ2RlCiGLXq1QqLFq0CIsWLSq2j5mZGbZu3Vqm7RIREVHlKtMllePHj6NVq1ZIT0+HSqVCv379MHXqVEydOhVdu3ZF69atcfr0aaVqJSIiomqqTIFj1apV8PX1hZGRUaF1xsbGmDJlClasWFFhxREREVHNUKbAcfXqVbi7uxe7vn///rI7RoiIiIiAMgaO5OTkIm+HLaCjo4P79++/cVFERERUs5QpcNSrVw/Xr18vdn1kZKTsIV1EREREQBkDx4ABAzB37lzZ18MXePr0KebPn49BgwZVWHFERERUM5TpttjPP/8ce/bsQbNmzeDv74/mzZsDAG7duoXg4GDk5eVhzpw5ihRKRERE1VeZAoeVlRXOnTuHDz/8EIGBgdIzNFQqFdzc3BAcHFzo212JiIiIyvzgL3t7exw8eBCPHz9GdHQ0hBBo2rQpTE1NlaiPiIiIaoByPWkUAExNTdG1a9eKrIWIiIhqqHJ9eRsRERFRWTBwEBERkeIYOIiIiEhxDBxERESkOAYOIiIiUhwDBxERESmOgYOIiIgUx8BBREREimPgICIiIsUxcBAREZHiGDiIiIhIcQwcREREpDgGDiIiIlIcAwcREREpjoGDiIiIFMfAQURERIqr8oHDwcEBKpWq0MvPzw8A4OzsXGjdBx98oOGqiYiI6GU6mi7gdS5evIi8vDxp+fr16+jXrx/effddqc3X1xeLFi2SluvUqVOpNRIREVHJqnzgsLCwkC0vXboUjRs3Ru/evaW2OnXqwNraurJLIyIiolKq8pdUXvb8+XNs3rwZ77//PlQqldS+ZcsW1K1bF23atEFgYCCePHlS4jjZ2dlIT0+XvYiIiEg5Vf4Mx8v27t2L1NRU+Pj4SG1jx46Fvb09bG1tERkZidmzZ+P27dvYs2dPseMEBQVh4cKFlVAxERERAdUscPz000/w8PCAra2t1DZ58mTpz23btoWNjQ1cXFwQExODxo0bFzlOYGAgAgICpOX09HTY2dkpVzgREdHfXLUJHHfu3MGxY8dKPHMBAI6OjgCA6OjoYgOHWq2GWq2u8BqJiIioaNVmDse6detgaWmJgQMHltgvIiICAGBjY1MJVREREVFpVIszHPn5+Vi3bh28vb2ho/P/S46JicHWrVsxYMAAmJubIzIyEjNnzkSvXr3Qrl07DVZMREREL6sWgePYsWOIj4/H+++/L2vX1dXFsWPHsGrVKmRlZcHOzg6enp74/PPPNVQpERERFaVaBI7+/ftDCFGo3c7ODidPntRARURERFQW1WYOBxEREVVfDBxERESkOAYOIiIiUhwDBxERESmOgYOIiIgUx8BBREREimPgICIiIsUxcBAREZHiGDiIiIhIcQwcREREpDgGDiIiIlIcAwcREREpjoGDiIiIFMfAQURERIpj4CAiIiLFMXAQERGR4hg4iIiISHEMHERERKQ4Bg4iIiJSHAMHERERKY6Bg4iIiBTHwEFERESKY+AgIiIixTFwEBERkeIYOIiIiEhxDBxERESkuCodOBYsWACVSiV7tWjRQlr/7Nkz+Pn5wdzcHAYGBvD09ERycrIGKyYiIqKiVOnAAQCtW7dGYmKi9Dpz5oy0bubMmfj999+xa9cunDx5EgkJCRg+fLgGqyUiIqKi6Gi6gNfR0dGBtbV1ofa0tDT89NNP2Lp1K/r27QsAWLduHVq2bInz58+jW7dulV0qERERFaPKn+GIioqCra0tGjVqBC8vL8THxwMALl++jJycHLi6ukp9W7RogQYNGiA8PLzEMbOzs5Geni57ERERkXKqdOBwdHTE+vXrcfjwYXz//feIjY3F22+/jYyMDCQlJUFXVxcmJiay91hZWSEpKanEcYOCgmBsbCy97OzsFNwLIiIiqtKXVDw8PKQ/t2vXDo6OjrC3t8fOnTuhp6dX7nEDAwMREBAgLaenpzN0EBERKahKn+F4lYmJCZo1a4bo6GhYW1vj+fPnSE1NlfVJTk4ucs7Hy9RqNYyMjGQvIiIiUk61ChyZmZmIiYmBjY0NOnfujFq1aiE0NFRaf/v2bcTHx8PJyUmDVRIREdGrqvQllVmzZmHw4MGwt7dHQkIC5s+fD21tbYwZMwbGxsaYOHEiAgICYGZmBiMjI0ydOhVOTk68Q4WIiKiKqdKB46+//sKYMWPw8OFDWFhYoGfPnjh//jwsLCwAACtXroSWlhY8PT2RnZ0NNzc3fPfddxqumoiIiF5VpQPH9u3bS1xfu3ZtBAcHIzg4uJIqIiIiovKoVnM4iIiIqHpi4CAiIiLFMXAQERGR4hg4iIiISHEMHERERKQ4Bg4iIiJSHAMHERERKY6Bg4iIiBTHwEFERESKY+AgIiIixTFwEBERkeIYOIiIiEhxDBxERESkOAYOIiIiUhwDBxERESmOgYOIiIgUx8BBREREimPgICIiIsUxcBAREZHiGDiIiIhIcQwcREREpDgGDiIiIlIcAwcREREpjoGDiIiIFMfAQURERIpj4CAiIiLFVenAERQUhK5du8LQ0BCWlpYYNmwYbt++Levj7OwMlUole33wwQcaqpiIiIiKUqUDx8mTJ+Hn54fz588jJCQEOTk56N+/P7KysmT9fH19kZiYKL2WLVumoYqJiIioKDqaLqAkhw8fli2vX78elpaWuHz5Mnr16iW116lTB9bW1pVdHhEREZVSlT7D8aq0tDQAgJmZmax9y5YtqFu3Ltq0aYPAwEA8efKkxHGys7ORnp4uexEREZFyqvQZjpfl5+djxowZ6NGjB9q0aSO1jx07Fvb29rC1tUVkZCRmz56N27dvY8+ePcWOFRQUhIULF1ZG2URERIRqFDj8/Pxw/fp1nDlzRtY+efJk6c9t27aFjY0NXFxcEBMTg8aNGxc5VmBgIAICAqTl9PR02NnZKVM4ERERVY/A4e/vj/379+PUqVOoX79+iX0dHR0BANHR0cUGDrVaDbVaXeF1EhERUdGqdOAQQmDq1Kn49ddfERYWhoYNG772PREREQAAGxsbhasjIiKi0qrSgcPPzw9bt27Fvn37YGhoiKSkJACAsbEx9PT0EBMTg61bt2LAgAEwNzdHZGQkZs6ciV69eqFdu3Yarp6IiIgKVOnA8f333wN48XCvl61btw4+Pj7Q1dXFsWPHsGrVKmRlZcHOzg6enp74/PPPNVAtERERFadKBw4hRInr7ezscPLkyUqqhoiIiMqrWj2Hg4iIiKonBg4iIiJSHAMHERERKY6Bg4iIiBTHwEFERESKY+AgIiIixTFwEBERkeIYOIiIiEhxDBxERESkOAYOIiIiUhwDBxERESmOgYOIiIgUx8BBREREimPgICIiIsUxcBAREZHiGDiIiIhIcQwcREREpDgGDiIiIlIcAwcREREpjoGDiIiIFMfAQURERIpj4CAiIiLFMXAQERGR4hg4iIiISHEMHERERKQ4Bg4iIiJSXI0JHMHBwXBwcEDt2rXh6OiIP/74Q9MlERER0f+pEYFjx44dCAgIwPz583HlyhW0b98ebm5uSElJ0XRpREREhBoSOFasWAFfX19MmDABrVq1wtq1a1GnTh38/PPPmi6NiIiIAOhouoA39fz5c1y+fBmBgYFSm5aWFlxdXREeHl7ke7Kzs5GdnS0tp6WlAQDS09PLVUNe9tNyvY+qp/IeJxUh41mexrZNlU+Tx1ru01yNbZsq35scawXvFUKU2K/aB44HDx4gLy8PVlZWsnYrKyvcunWryPcEBQVh4cKFhdrt7OwUqZFqFuM1H2i6BPq7CDLWdAX0N2E8+82PtYyMDBgbFz9OtQ8c5REYGIiAgABpOT8/H48ePYK5uTlUKpUGK6s+0tPTYWdnh7t378LIyEjT5VANxmONKguPtfIRQiAjIwO2trYl9qv2gaNu3brQ1tZGcnKyrD05ORnW1tZFvketVkOtVsvaTExMlCqxRjMyMuI/TKoUPNaosvBYK7uSzmwUqPaTRnV1ddG5c2eEhoZKbfn5+QgNDYWTk5MGKyMiIqIC1f4MBwAEBATA29sbXbp0wVtvvYVVq1YhKysLEyZM0HRpREREhBoSOEaNGoX79+9j3rx5SEpKQocOHXD48OFCE0mp4qjVasyfP7/QpSmiisZjjSoLjzVlqcTr7mMhIiIiekPVfg4HERERVX0MHERERKQ4Bg4iIiJSHAMHlUlYWBhUKhVSU1NL7Ofg4IBVq1ZVSk1EBRYsWIAOHTpougyiQvgzkYGDyqh79+5ITEyUHvKyfv36Ih+advHiRUyePLmSq6O/E5VKhb1798raZs2aJXsmD1F5OTs7Y8aMGZouo0apEbfFUuXR1dUt9gmuL7OwsKiEaojkDAwMYGBgoOky6G9CCIG8vDzo6PBXaWnwDEcN5OzsDH9/f/j7+8PY2Bh169bF3LlzpW/ye/z4McaPHw9TU1PUqVMHHh4eiIqKkt5/584dDB48GKamptDX10fr1q1x8OBBAPJLKmFhYZgwYQLS0tKgUqmgUqmwYMECAPLTh2PHjsWoUaNkNebk5KBu3brYuHEjgBdPhw0KCkLDhg2hp6eH9u3bY/fu3Qp/UlQezs7OmDZtGj799FOYmZnB2tpa+nsHgNTUVEyaNAkWFhYwMjJC3759cfXqVdkYixcvhqWlJQwNDTFp0iR89tlnskshFy9eRL9+/VC3bl0YGxujd+/euHLlirTewcEBAPDOO+9ApVJJyy9fUjl69Chq165d6PLf9OnT0bdvX2n5zJkzePvtt6Gnpwc7OztMmzYNWVlZb/w5kXLe9Bj08fHBsGHDZGPOmDEDzs7O0vqTJ09i9erV0s+2uLg46effoUOH0LlzZ6jVapw5cwYxMTEYOnQorKysYGBggK5du+LYsWOV8ElULwwcNdSGDRugo6ODP/74A6tXr8aKFSvw73//G8CLf0yXLl3Cb7/9hvDwcAghMGDAAOTk5AAA/Pz8kJ2djVOnTuHatWv48ssvi/xfY/fu3bFq1SoYGRkhMTERiYmJmDVrVqF+Xl5e+P3335GZmSm1HTlyBE+ePME777wD4MU3+G7cuBFr167FjRs3MHPmTIwbNw4nT55U4uOhN7Rhwwbo6+vjwoULWLZsGRYtWoSQkBAAwLvvvouUlBQcOnQIly9fRqdOneDi4oJHjx4BALZs2YIlS5bgyy+/xOXLl9GgQQN8//33svEzMjLg7e2NM2fO4Pz582jatCkGDBiAjIwMAC8CCQCsW7cOiYmJ0vLLXFxcYGJigl9++UVqy8vLw44dO+Dl5QUAiImJgbu7Ozw9PREZGYkdO3bgzJkz8Pf3r/gPjSrUmxyDr7N69Wo4OTnB19dX+tn28reJf/bZZ1i6dClu3ryJdu3aITMzEwMGDEBoaCj+85//wN3dHYMHD0Z8fLwi+15tCapxevfuLVq2bCny8/OlttmzZ4uWLVuK//73vwKAOHv2rLTuwYMHQk9PT+zcuVMIIUTbtm3FggULihz7xIkTAoB4/PixEEKIdevWCWNj40L97O3txcqVK4UQQuTk5Ii6deuKjRs3SuvHjBkjRo0aJYQQ4tmzZ6JOnTri3LlzsjEmTpwoxowZU+b9J2X17t1b9OzZU9bWtWtXMXv2bHH69GlhZGQknj17JlvfuHFj8cMPPwghhHB0dBR+fn6y9T169BDt27cvdpt5eXnC0NBQ/P7771IbAPHrr7/K+s2fP182zvTp00Xfvn2l5SNHjgi1Wi0dvxMnThSTJ0+WjXH69GmhpaUlnj59Wmw9pFlvegx6e3uLoUOHytZPnz5d9O7dW7aN6dOny/oU/Pzbu3fva2ts3bq1WLNmjbT88s/Evyue4aihunXrBpVKJS07OTkhKioKf/75J3R0dODo6CitMzc3R/PmzXHz5k0AwLRp07B48WL06NED8+fPR2Rk5BvVoqOjg5EjR2LLli0AgKysLOzbt0/6X2Z0dDSePHmCfv36SdfgDQwMsHHjRsTExLzRtkkZ7dq1ky3b2NggJSUFV69eRWZmJszNzWV/l7GxsdLf5e3bt/HWW2/J3v/qcnJyMnx9fdG0aVMYGxvDyMgImZmZZf4fo5eXF8LCwpCQkADgxdmVgQMHShOdr169ivXr18tqdXNzQ35+PmJjY8u0Lapcb3IMvqkuXbrIljMzMzFr1iy0bNkSJiYmMDAwwM2bN3mG4xWc6UKFTJo0CW5ubjhw4ACOHj2KoKAgfP3115g6dWq5x/Ty8kLv3r2RkpKCkJAQ6Onpwd3dHQCkSy0HDhxAvXr1ZO/jdxpUTbVq1ZItq1Qq5OfnIzMzEzY2NggLCyv0nqLuZiqOt7c3Hj58iNWrV8Pe3h5qtRpOTk54/vx5mers2rUrGjdujO3bt+PDDz/Er7/+ivXr10vrMzMzMWXKFEybNq3Qexs0aFCmbVHlepNjUEtLS5rTVqDgknJp6Ovry5ZnzZqFkJAQLF++HE2aNIGenh5GjBhR5uO1pmPgqKEuXLggWy64Dt6qVSvk5ubiwoUL6N69OwDg4cOHuH37Nlq1aiX1t7OzwwcffIAPPvgAgYGB+Ne//lVk4NDV1UVeXt5r6+nevTvs7OywY8cOHDp0CO+++670A6NVq1ZQq9WIj49H796932S3ScM6deqEpKQk6OjoSBM5X9W8eXNcvHgR48ePl9penYNx9uxZfPfddxgwYAAA4O7du3jw4IGsT61atUp17Hl5eWHLli2oX78+tLS0MHDgQFm9f/75J5o0aVLaXaQqrjTHoIWFBa5fvy5ri4iIkIWY0v5sA14crz4+PtKctMzMTMTFxZWr/pqMl1RqqPj4eAQEBOD27dvYtm0b1qxZg+nTp6Np06YYOnQofH19cebMGVy9ehXjxo1DvXr1MHToUAAvZmsfOXIEsbGxuHLlCk6cOIGWLVsWuR0HBwdkZmYiNDQUDx48wJMnT4qtaezYsVi7di1CQkKkyykAYGhoiFmzZmHmzJnYsGEDYmJicOXKFaxZswYbNmyo2A+GFOXq6gonJycMGzYMR48eRVxcHM6dO4c5c+bg0qVLAICpU6fip59+woYNGxAVFYXFixcjMjJSdgmwadOm2LRpE27evIkLFy7Ay8sLenp6sm05ODggNDQUSUlJePz4cbE1eXl54cqVK1iyZAlGjBghO2s2e/ZsnDt3Dv7+/oiIiEBUVBT27dvHSaPVWGmOwb59++LSpUvYuHEjoqKiMH/+/EIBxMHBARcuXEBcXBwePHiA/Pz8YrfZtGlT7NmzBxEREbh69SrGjh1bYv+/KwaOGmr8+PF4+vQp3nrrLfj5+WH69OnSg7jWrVuHzp07Y9CgQXBycoIQAgcPHpTSfV5eHvz8/NCyZUu4u7ujWbNm+O6774rcTvfu3fHBBx9g1KhRsLCwwLJly4qtycvLC3/++Sfq1auHHj16yNZ98cUXmDt3LoKCgqTtHjhwAA0bNqygT4Qqg0qlwsGDB9GrVy9MmDABzZo1w+jRo3Hnzh1YWVkBeHEcBAYGYtasWejUqRNiY2Ph4+OD2rVrS+P89NNPePz4MTp16oT33nsP06ZNg6WlpWxbX3/9NUJCQmBnZ4eOHTsWW1OTJk3w1ltvITIyUhZ0gRfzAE6ePIn//ve/ePvtt9GxY0fMmzcPtra2FfipUGUqzTHo5uaGuXPn4tNPP0XXrl2RkZEhO+MGvLhMoq2tjVatWsHCwqLE+RgrVqyAqakpunfvjsGDB8PNzQ2dOnVSdD+rI349fQ3k7OyMDh06/O0fo0vVR79+/WBtbY1NmzZpuhQiUgjncBBRpXry5AnWrl0LNzc3aGtrY9u2bTh27Jj0DAUiqpkYOIioUhWc8l6yZAmePXuG5s2b45dffoGrq6umSyMiBfGSChERESmOk0aJiIhIcQwcREREpDgGDiIiIlIcAwcREREpjoGDiIiIFMfAQURVTlhYGFQqFVJTUzVdChFVEAYOIirW/fv38eGHH6JBgwZQq9WwtraGm5sbzp49W2HbcHZ2xowZM2Rt3bt3R2JiIoyNjStsO+Xl4+ODYcOGaboMomqPD/4iomJ5enri+fPn2LBhAxo1aoTk5GSEhobi4cOHim5XV1cX1tbWim6DiCqZICIqwuPHjwUAERYWVmKfiRMnirp16wpDQ0PRp08fERERIa2fP3++aN++vdi4caOwt7cXRkZGYtSoUSI9PV0IIYS3t7cAIHvFxsaKEydOCADi8ePHQggh1q1bJ4yNjcXvv/8umjVrJvT09ISnp6fIysoS69evF/b29sLExERMnTpV5ObmStt/9uyZ+Pjjj4Wtra2oU6eOeOutt8SJEyek9QXjHj58WLRo0ULo6+sLNzc3kZCQINX/an0vv5+ISo+XVIioSAYGBjAwMMDevXuRnZ1dZJ93330XKSkpOHToEC5fvoxOnTrBxcUFjx49kvrExMRg79692L9/P/bv34+TJ09i6dKlAIDVq1fDyckJvr6+SExMRGJiIuzs7Irc1pMnT/DNN99g+/btOHz4MMLCwvDOO+/g4MGDOHjwIDZt2oQffvgBu3fvlt7j7++P8PBwbN++HZGRkXj33Xfh7u6OqKgo2bjLly/Hpk2bcOrUKcTHx2PWrFkAXnxj6MiRI+Hu7i7V17179zf+bIn+ljSdeIio6tq9e7cwNTUVtWvXFt27dxeBgYHi6tWrQgghTp8+LYyMjMSzZ89k72ncuLH44YcfhBAvzhDUqVNHOqMhhBCffPKJcHR0lJZ79+4tpk+fLhujqDMcAER0dLTUZ8qUKaJOnToiIyNDanNzcxNTpkwRQghx584doa2tLe7duycb28XFRQQGBhY7bnBwsLCyspKWvb29xdChQ0v1eRFR8TiHg4iK5enpiYEDB+L06dM4f/48Dh06hGXLluHf//43srKykJmZCXNzc9l7nj59ipiYGGnZwcEBhoaG0rKNjQ1SUlLKXEudOnXQuHFjadnKygoODg4wMDCQtRWMfe3aNeTl5aFZs2aycbKzs2U1vzpueesjopIxcBBRiWrXro1+/fqhX79+mDt3LiZNmoT58+fjo48+go2NDcLCwgq9x8TERPpzrVq1ZOtUKhXy8/PLXEdR45Q0dmZmJrS1tXH58mVoa2vL+r0cUooaQ/A7LYkqHAMHEZVJq1atsHfvXnTq1AlJSUnQ0dGBg4NDucfT1dVFXl5exRX4fzp27Ii8vDykpKTg7bffLvc4StVH9HfDSaNEVKSHDx+ib9++2Lx5MyIjIxEbG4tdu3Zh2bJlGDp0KFxdXeHk5IRhw4bh6NGjiIuLw7lz5zBnzhxcunSp1NtxcHDAhQsXEBcXhwcPHpTr7EdRmjVrBi8vL4wfPx579uxBbGws/vjjDwQFBeHAgQNlqi8yMhK3b9/GgwcPkJOTUyH1Ef3dMHAQUZEMDAzg6OiIlStXolevXmjTpg3mzp0LX19ffPvtt1CpVDh48CB69eqFCRMmoFmzZhg9ejTu3LkDKyurUm9n1qxZ0NbWRqtWrWBhYYH4+PgK24d169Zh/Pjx+Pjjj9G8eXMMGzYMFy9eRIMGDUo9hq+vL5o3b44uXbrAwsKiQh96RvR3ohK8WElEREQK4xkOIiIiUhwDBxERESmOgYOIiIgUx8BBREREimPgICIiIsUxcBAREZHiGDiIiIhIcQwcREREpDgGDiIiIlIcAwcREREpjoGDiIiIFPf/AJDk/tFlM6Wa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8576" y="1800738"/>
            <a:ext cx="4291584" cy="3201658"/>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75" y="160339"/>
            <a:ext cx="3985092" cy="2973006"/>
          </a:xfrm>
          <a:prstGeom prst="rect">
            <a:avLst/>
          </a:prstGeom>
        </p:spPr>
      </p:pic>
      <p:sp>
        <p:nvSpPr>
          <p:cNvPr id="5" name="TextBox 4"/>
          <p:cNvSpPr txBox="1"/>
          <p:nvPr/>
        </p:nvSpPr>
        <p:spPr>
          <a:xfrm>
            <a:off x="155575" y="3401567"/>
            <a:ext cx="3985092" cy="369332"/>
          </a:xfrm>
          <a:prstGeom prst="rect">
            <a:avLst/>
          </a:prstGeom>
          <a:noFill/>
        </p:spPr>
        <p:txBody>
          <a:bodyPr wrap="square" rtlCol="0">
            <a:spAutoFit/>
          </a:bodyPr>
          <a:lstStyle/>
          <a:p>
            <a:endParaRPr lang="en-US" dirty="0"/>
          </a:p>
        </p:txBody>
      </p:sp>
      <p:sp>
        <p:nvSpPr>
          <p:cNvPr id="8" name="TextBox 7"/>
          <p:cNvSpPr txBox="1"/>
          <p:nvPr/>
        </p:nvSpPr>
        <p:spPr>
          <a:xfrm>
            <a:off x="4474464" y="1123622"/>
            <a:ext cx="5547360" cy="523220"/>
          </a:xfrm>
          <a:prstGeom prst="rect">
            <a:avLst/>
          </a:prstGeom>
          <a:noFill/>
        </p:spPr>
        <p:txBody>
          <a:bodyPr wrap="square" rtlCol="0">
            <a:spAutoFit/>
          </a:bodyPr>
          <a:lstStyle/>
          <a:p>
            <a:r>
              <a:rPr lang="en-US" sz="1400" dirty="0"/>
              <a:t>For each number of tweets during the </a:t>
            </a:r>
            <a:r>
              <a:rPr lang="en-US" sz="1400" dirty="0" smtClean="0"/>
              <a:t>day the </a:t>
            </a:r>
            <a:r>
              <a:rPr lang="en-US" sz="1400" dirty="0"/>
              <a:t>bar </a:t>
            </a:r>
            <a:r>
              <a:rPr lang="en-US" sz="1400" dirty="0" smtClean="0"/>
              <a:t>chart</a:t>
            </a:r>
          </a:p>
          <a:p>
            <a:r>
              <a:rPr lang="en-US" sz="1400" dirty="0" smtClean="0"/>
              <a:t> </a:t>
            </a:r>
            <a:r>
              <a:rPr lang="en-US" sz="1400" dirty="0"/>
              <a:t>illustrates counts of categories </a:t>
            </a:r>
            <a:r>
              <a:rPr lang="en-US" sz="1400" dirty="0" smtClean="0"/>
              <a:t>during </a:t>
            </a:r>
            <a:r>
              <a:rPr lang="en-US" sz="1400" dirty="0"/>
              <a:t>the day periods.</a:t>
            </a:r>
          </a:p>
        </p:txBody>
      </p:sp>
      <p:sp>
        <p:nvSpPr>
          <p:cNvPr id="9" name="TextBox 8"/>
          <p:cNvSpPr txBox="1"/>
          <p:nvPr/>
        </p:nvSpPr>
        <p:spPr>
          <a:xfrm>
            <a:off x="155575" y="3401567"/>
            <a:ext cx="4068953" cy="954107"/>
          </a:xfrm>
          <a:prstGeom prst="rect">
            <a:avLst/>
          </a:prstGeom>
          <a:noFill/>
        </p:spPr>
        <p:txBody>
          <a:bodyPr wrap="square" rtlCol="0">
            <a:spAutoFit/>
          </a:bodyPr>
          <a:lstStyle/>
          <a:p>
            <a:r>
              <a:rPr lang="en-US" sz="1400" dirty="0"/>
              <a:t>This line plot shows that we have a higher tweets account at the beginning of the year and bless during and it gets higher again during the end of the </a:t>
            </a:r>
            <a:r>
              <a:rPr lang="en-US" sz="1400" dirty="0" smtClean="0"/>
              <a:t>year.</a:t>
            </a:r>
            <a:endParaRPr lang="en-US" sz="1400" dirty="0"/>
          </a:p>
        </p:txBody>
      </p:sp>
    </p:spTree>
    <p:extLst>
      <p:ext uri="{BB962C8B-B14F-4D97-AF65-F5344CB8AC3E}">
        <p14:creationId xmlns:p14="http://schemas.microsoft.com/office/powerpoint/2010/main" val="405501499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0" name="Google Shape;168;p31"/>
          <p:cNvCxnSpPr/>
          <p:nvPr/>
        </p:nvCxnSpPr>
        <p:spPr>
          <a:xfrm>
            <a:off x="713160" y="4603680"/>
            <a:ext cx="7684920" cy="360"/>
          </a:xfrm>
          <a:prstGeom prst="straightConnector1">
            <a:avLst/>
          </a:prstGeom>
          <a:ln w="19050">
            <a:solidFill>
              <a:srgbClr val="021024"/>
            </a:solidFill>
            <a:round/>
          </a:ln>
        </p:spPr>
      </p:cxnSp>
      <p:sp>
        <p:nvSpPr>
          <p:cNvPr id="2" name="Rectangle 1"/>
          <p:cNvSpPr/>
          <p:nvPr/>
        </p:nvSpPr>
        <p:spPr>
          <a:xfrm>
            <a:off x="713160" y="896748"/>
            <a:ext cx="7309176" cy="3139321"/>
          </a:xfrm>
          <a:prstGeom prst="rect">
            <a:avLst/>
          </a:prstGeom>
        </p:spPr>
        <p:txBody>
          <a:bodyPr wrap="square">
            <a:spAutoFit/>
          </a:bodyPr>
          <a:lstStyle/>
          <a:p>
            <a:r>
              <a:rPr lang="en-US" b="1" dirty="0" smtClean="0">
                <a:effectLst/>
              </a:rPr>
              <a:t>preprocessing steps</a:t>
            </a:r>
          </a:p>
          <a:p>
            <a:endParaRPr lang="en-US" b="1" dirty="0" smtClean="0">
              <a:effectLst/>
            </a:endParaRPr>
          </a:p>
          <a:p>
            <a:r>
              <a:rPr lang="en-US" dirty="0" smtClean="0">
                <a:effectLst/>
              </a:rPr>
              <a:t>Clean text function included removing stop words, lowercasing the text, tokenizing words and limitation all using </a:t>
            </a:r>
            <a:r>
              <a:rPr lang="en-US" dirty="0" err="1" smtClean="0">
                <a:effectLst/>
              </a:rPr>
              <a:t>nltks</a:t>
            </a:r>
            <a:r>
              <a:rPr lang="en-US" dirty="0" smtClean="0">
                <a:effectLst/>
              </a:rPr>
              <a:t>.</a:t>
            </a:r>
          </a:p>
          <a:p>
            <a:endParaRPr lang="en-US" b="1" dirty="0" smtClean="0">
              <a:effectLst/>
            </a:endParaRPr>
          </a:p>
          <a:p>
            <a:r>
              <a:rPr lang="en-US" b="1" dirty="0" smtClean="0">
                <a:effectLst/>
              </a:rPr>
              <a:t>Feature extraction</a:t>
            </a:r>
          </a:p>
          <a:p>
            <a:endParaRPr lang="en-US" b="1" dirty="0" smtClean="0">
              <a:effectLst/>
            </a:endParaRPr>
          </a:p>
          <a:p>
            <a:r>
              <a:rPr lang="en-US" dirty="0" smtClean="0">
                <a:effectLst/>
              </a:rPr>
              <a:t>After experimenting with multiple vectorization approaches </a:t>
            </a:r>
            <a:r>
              <a:rPr lang="en-US" dirty="0" err="1" smtClean="0">
                <a:effectLst/>
              </a:rPr>
              <a:t>tfidf</a:t>
            </a:r>
            <a:r>
              <a:rPr lang="en-US" dirty="0" smtClean="0">
                <a:effectLst/>
              </a:rPr>
              <a:t> </a:t>
            </a:r>
            <a:r>
              <a:rPr lang="en-US" dirty="0" err="1" smtClean="0">
                <a:effectLst/>
              </a:rPr>
              <a:t>vectorizer</a:t>
            </a:r>
            <a:r>
              <a:rPr lang="en-US" dirty="0" smtClean="0">
                <a:effectLst/>
              </a:rPr>
              <a:t> has the best results.</a:t>
            </a:r>
          </a:p>
          <a:p>
            <a:r>
              <a:rPr lang="en-US" dirty="0" smtClean="0">
                <a:effectLst/>
              </a:rPr>
              <a:t/>
            </a:r>
            <a:br>
              <a:rPr lang="en-US" dirty="0" smtClean="0">
                <a:effectLst/>
              </a:rPr>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584544" y="400416"/>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dirty="0">
                <a:solidFill>
                  <a:schemeClr val="dk1"/>
                </a:solidFill>
                <a:latin typeface="Outfit"/>
                <a:ea typeface="Outfit"/>
              </a:rPr>
              <a:t>Overview of models tested</a:t>
            </a:r>
            <a:endParaRPr lang="fr-FR" sz="4000" b="0" strike="noStrike" spc="-1" dirty="0">
              <a:solidFill>
                <a:schemeClr val="dk1"/>
              </a:solidFill>
              <a:latin typeface="Arial"/>
            </a:endParaRPr>
          </a:p>
        </p:txBody>
      </p:sp>
      <p:sp>
        <p:nvSpPr>
          <p:cNvPr id="93" name="PlaceHolder 2"/>
          <p:cNvSpPr>
            <a:spLocks noGrp="1"/>
          </p:cNvSpPr>
          <p:nvPr>
            <p:ph/>
          </p:nvPr>
        </p:nvSpPr>
        <p:spPr>
          <a:xfrm>
            <a:off x="584544" y="1192752"/>
            <a:ext cx="7364640" cy="308664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400" b="0" strike="noStrike" spc="-1" dirty="0">
                <a:solidFill>
                  <a:schemeClr val="dk1"/>
                </a:solidFill>
                <a:latin typeface="arial"/>
                <a:ea typeface="arial"/>
              </a:rPr>
              <a:t>In the evaluation phase, several machine learning models were tested for their effectiveness in sentiment classification. </a:t>
            </a:r>
            <a:endParaRPr lang="en" sz="1400" b="0" strike="noStrike" spc="-1" dirty="0" smtClean="0">
              <a:solidFill>
                <a:schemeClr val="dk1"/>
              </a:solidFill>
              <a:latin typeface="arial"/>
              <a:ea typeface="arial"/>
            </a:endParaRPr>
          </a:p>
          <a:p>
            <a:pPr indent="0">
              <a:lnSpc>
                <a:spcPct val="100000"/>
              </a:lnSpc>
              <a:buNone/>
              <a:tabLst>
                <a:tab pos="0" algn="l"/>
              </a:tabLst>
            </a:pPr>
            <a:r>
              <a:rPr lang="en" sz="1400" b="0" strike="noStrike" spc="-1" dirty="0" smtClean="0">
                <a:solidFill>
                  <a:schemeClr val="dk1"/>
                </a:solidFill>
                <a:latin typeface="arial"/>
                <a:ea typeface="arial"/>
              </a:rPr>
              <a:t>The </a:t>
            </a:r>
            <a:r>
              <a:rPr lang="en" sz="1400" b="0" strike="noStrike" spc="-1" dirty="0">
                <a:solidFill>
                  <a:schemeClr val="dk1"/>
                </a:solidFill>
                <a:latin typeface="arial"/>
                <a:ea typeface="arial"/>
              </a:rPr>
              <a:t>models </a:t>
            </a:r>
            <a:r>
              <a:rPr lang="en" sz="1400" b="0" strike="noStrike" spc="-1" dirty="0" smtClean="0">
                <a:solidFill>
                  <a:schemeClr val="dk1"/>
                </a:solidFill>
                <a:latin typeface="arial"/>
                <a:ea typeface="arial"/>
              </a:rPr>
              <a:t>included: </a:t>
            </a:r>
          </a:p>
          <a:p>
            <a:pPr lvl="0"/>
            <a:r>
              <a:rPr lang="en-US" sz="1400" dirty="0"/>
              <a:t>Multinomial Naive </a:t>
            </a:r>
            <a:r>
              <a:rPr lang="en-US" sz="1400" dirty="0" smtClean="0"/>
              <a:t>Bayes</a:t>
            </a:r>
            <a:endParaRPr lang="en-US" sz="1400" dirty="0"/>
          </a:p>
          <a:p>
            <a:pPr lvl="0"/>
            <a:r>
              <a:rPr lang="en-US" sz="1400" dirty="0"/>
              <a:t>Logistic </a:t>
            </a:r>
            <a:r>
              <a:rPr lang="en-US" sz="1400" dirty="0" smtClean="0"/>
              <a:t>Regression</a:t>
            </a:r>
            <a:endParaRPr lang="en-US" sz="1400" dirty="0"/>
          </a:p>
          <a:p>
            <a:pPr lvl="0"/>
            <a:r>
              <a:rPr lang="en-US" sz="1400" u="sng" dirty="0"/>
              <a:t>Linear Support Vector Classifier (</a:t>
            </a:r>
            <a:r>
              <a:rPr lang="en-US" sz="1400" u="sng" dirty="0" err="1"/>
              <a:t>LinearSVC</a:t>
            </a:r>
            <a:r>
              <a:rPr lang="en-US" sz="1400" u="sng" dirty="0" smtClean="0"/>
              <a:t>)</a:t>
            </a:r>
            <a:endParaRPr lang="en-US" sz="1400" u="sng" dirty="0"/>
          </a:p>
          <a:p>
            <a:pPr lvl="0"/>
            <a:r>
              <a:rPr lang="en-US" sz="1400" dirty="0"/>
              <a:t>Random </a:t>
            </a:r>
            <a:r>
              <a:rPr lang="en-US" sz="1400" dirty="0" smtClean="0"/>
              <a:t>Forest</a:t>
            </a:r>
            <a:endParaRPr lang="en-US" sz="1400" dirty="0"/>
          </a:p>
          <a:p>
            <a:pPr lvl="0"/>
            <a:r>
              <a:rPr lang="en-US" sz="1400" dirty="0"/>
              <a:t>Voting Classifiers (Hard and Soft</a:t>
            </a:r>
            <a:r>
              <a:rPr lang="en-US" sz="1400" dirty="0" smtClean="0"/>
              <a:t>)</a:t>
            </a:r>
            <a:endParaRPr lang="en-US" sz="1400" dirty="0"/>
          </a:p>
          <a:p>
            <a:pPr lvl="0"/>
            <a:r>
              <a:rPr lang="en-US" sz="1400" dirty="0" err="1"/>
              <a:t>GridSearchCV</a:t>
            </a:r>
            <a:r>
              <a:rPr lang="en-US" sz="1400" dirty="0"/>
              <a:t> </a:t>
            </a:r>
            <a:r>
              <a:rPr lang="en-US" sz="1400" dirty="0" smtClean="0"/>
              <a:t>for tuning </a:t>
            </a:r>
            <a:r>
              <a:rPr lang="en-US" sz="1400" dirty="0" err="1" smtClean="0"/>
              <a:t>LinearSVC</a:t>
            </a:r>
            <a:endParaRPr lang="en-US" sz="1400" dirty="0" smtClean="0"/>
          </a:p>
          <a:p>
            <a:pPr marL="0" lvl="0" indent="0">
              <a:buNone/>
            </a:pPr>
            <a:endParaRPr lang="en-US" sz="1400" dirty="0"/>
          </a:p>
          <a:p>
            <a:pPr indent="0">
              <a:lnSpc>
                <a:spcPct val="100000"/>
              </a:lnSpc>
              <a:buNone/>
              <a:tabLst>
                <a:tab pos="0" algn="l"/>
              </a:tabLst>
            </a:pPr>
            <a:r>
              <a:rPr lang="en" sz="1400" b="0" strike="noStrike" spc="-1" dirty="0" smtClean="0">
                <a:solidFill>
                  <a:schemeClr val="dk1"/>
                </a:solidFill>
                <a:latin typeface="arial"/>
                <a:ea typeface="arial"/>
              </a:rPr>
              <a:t>Each </a:t>
            </a:r>
            <a:r>
              <a:rPr lang="en" sz="1400" b="0" strike="noStrike" spc="-1" dirty="0">
                <a:solidFill>
                  <a:schemeClr val="dk1"/>
                </a:solidFill>
                <a:latin typeface="arial"/>
                <a:ea typeface="arial"/>
              </a:rPr>
              <a:t>model was implemented with careful consideration of preprocessing techniques and vectorization methods to ensure optimal performance in predicting sentiment.</a:t>
            </a:r>
            <a:endParaRPr lang="fr-FR" sz="1400" b="0" strike="noStrike" spc="-1" dirty="0">
              <a:solidFill>
                <a:srgbClr val="000000"/>
              </a:solidFill>
              <a:latin typeface="Arial"/>
            </a:endParaRPr>
          </a:p>
        </p:txBody>
      </p:sp>
      <p:pic>
        <p:nvPicPr>
          <p:cNvPr id="11" name="Picture 10"/>
          <p:cNvPicPr>
            <a:picLocks noChangeAspect="1"/>
          </p:cNvPicPr>
          <p:nvPr/>
        </p:nvPicPr>
        <p:blipFill>
          <a:blip r:embed="rId2"/>
          <a:stretch>
            <a:fillRect/>
          </a:stretch>
        </p:blipFill>
        <p:spPr>
          <a:xfrm>
            <a:off x="146304" y="81204"/>
            <a:ext cx="8827007" cy="49673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14240" y="400416"/>
            <a:ext cx="7714800" cy="694800"/>
          </a:xfrm>
          <a:prstGeom prst="rect">
            <a:avLst/>
          </a:prstGeom>
          <a:noFill/>
          <a:ln w="0">
            <a:noFill/>
          </a:ln>
        </p:spPr>
        <p:txBody>
          <a:bodyPr lIns="91440" tIns="91440" rIns="91440" bIns="91440" anchor="t">
            <a:noAutofit/>
          </a:bodyPr>
          <a:lstStyle/>
          <a:p>
            <a:pPr>
              <a:lnSpc>
                <a:spcPct val="100000"/>
              </a:lnSpc>
              <a:tabLst>
                <a:tab pos="0" algn="l"/>
              </a:tabLst>
            </a:pPr>
            <a:r>
              <a:rPr lang="en-US" sz="2400" b="1" dirty="0" smtClean="0"/>
              <a:t>Linear Support Vector Classifier (</a:t>
            </a:r>
            <a:r>
              <a:rPr lang="en-US" sz="2400" b="1" dirty="0" err="1" smtClean="0"/>
              <a:t>LinearSVC</a:t>
            </a:r>
            <a:r>
              <a:rPr lang="en-US" sz="2400" b="1" dirty="0" smtClean="0"/>
              <a:t>)</a:t>
            </a:r>
            <a:r>
              <a:rPr lang="en-US" sz="2800" u="sng" dirty="0" smtClean="0"/>
              <a:t/>
            </a:r>
            <a:br>
              <a:rPr lang="en-US" sz="2800" u="sng" dirty="0" smtClean="0"/>
            </a:br>
            <a:endParaRPr lang="fr-FR" sz="2800" b="0" strike="noStrike" spc="-1" dirty="0">
              <a:solidFill>
                <a:schemeClr val="dk1"/>
              </a:solidFill>
              <a:latin typeface="Arial"/>
            </a:endParaRPr>
          </a:p>
        </p:txBody>
      </p:sp>
      <p:sp>
        <p:nvSpPr>
          <p:cNvPr id="87" name="PlaceHolder 2"/>
          <p:cNvSpPr>
            <a:spLocks noGrp="1"/>
          </p:cNvSpPr>
          <p:nvPr>
            <p:ph/>
          </p:nvPr>
        </p:nvSpPr>
        <p:spPr>
          <a:xfrm>
            <a:off x="511392" y="1204140"/>
            <a:ext cx="7559712" cy="3073728"/>
          </a:xfrm>
          <a:prstGeom prst="rect">
            <a:avLst/>
          </a:prstGeom>
          <a:noFill/>
          <a:ln w="0">
            <a:noFill/>
          </a:ln>
        </p:spPr>
        <p:txBody>
          <a:bodyPr lIns="91440" tIns="91440" rIns="91440" bIns="91440" anchor="t">
            <a:normAutofit lnSpcReduction="10000"/>
          </a:bodyPr>
          <a:lstStyle/>
          <a:p>
            <a:pPr indent="0">
              <a:lnSpc>
                <a:spcPct val="100000"/>
              </a:lnSpc>
              <a:buNone/>
              <a:tabLst>
                <a:tab pos="0" algn="l"/>
              </a:tabLst>
            </a:pPr>
            <a:r>
              <a:rPr lang="en" sz="1600" b="0" strike="noStrike" spc="-1" dirty="0">
                <a:solidFill>
                  <a:schemeClr val="dk1"/>
                </a:solidFill>
                <a:latin typeface="arial"/>
                <a:ea typeface="arial"/>
              </a:rPr>
              <a:t>This project successfully demonstrated the capacity of Natural Language Processing (NLP) to analyze sentiments within tweet data</a:t>
            </a:r>
            <a:r>
              <a:rPr lang="en" sz="1600" b="0" strike="noStrike" spc="-1" dirty="0" smtClean="0">
                <a:solidFill>
                  <a:schemeClr val="dk1"/>
                </a:solidFill>
                <a:latin typeface="arial"/>
                <a:ea typeface="arial"/>
              </a:rPr>
              <a:t>.</a:t>
            </a:r>
          </a:p>
          <a:p>
            <a:pPr indent="0">
              <a:lnSpc>
                <a:spcPct val="100000"/>
              </a:lnSpc>
              <a:buNone/>
              <a:tabLst>
                <a:tab pos="0" algn="l"/>
              </a:tabLst>
            </a:pPr>
            <a:r>
              <a:rPr lang="en" sz="1600" spc="-1" dirty="0" smtClean="0">
                <a:solidFill>
                  <a:schemeClr val="dk1"/>
                </a:solidFill>
                <a:latin typeface="arial"/>
                <a:ea typeface="arial"/>
              </a:rPr>
              <a:t>The final model selected for this project was LinearSVC combined with a cleaned text dataset and TF-IDF vectorization (ngram: 1–2, min_df: 2).</a:t>
            </a:r>
            <a:endParaRPr lang="en" sz="1600" b="0" strike="noStrike" spc="-1" dirty="0" smtClean="0">
              <a:solidFill>
                <a:schemeClr val="dk1"/>
              </a:solidFill>
              <a:latin typeface="arial"/>
              <a:ea typeface="arial"/>
            </a:endParaRPr>
          </a:p>
          <a:p>
            <a:pPr indent="0">
              <a:lnSpc>
                <a:spcPct val="100000"/>
              </a:lnSpc>
              <a:buNone/>
              <a:tabLst>
                <a:tab pos="0" algn="l"/>
              </a:tabLst>
            </a:pPr>
            <a:r>
              <a:rPr lang="en" sz="1600" b="0" strike="noStrike" spc="-1" dirty="0" smtClean="0">
                <a:solidFill>
                  <a:schemeClr val="dk1"/>
                </a:solidFill>
                <a:latin typeface="arial"/>
                <a:ea typeface="arial"/>
              </a:rPr>
              <a:t>The </a:t>
            </a:r>
            <a:r>
              <a:rPr lang="en" sz="1600" b="0" strike="noStrike" spc="-1" dirty="0">
                <a:solidFill>
                  <a:schemeClr val="dk1"/>
                </a:solidFill>
                <a:latin typeface="arial"/>
                <a:ea typeface="arial"/>
              </a:rPr>
              <a:t>primary finding revealed that Linear Support Vector Classifier (LinearSVC) provided the most reliable classification results, achieving an accuracy of 0.74 across sentiment categories. </a:t>
            </a:r>
            <a:endParaRPr lang="en" sz="1600" b="0" strike="noStrike" spc="-1" dirty="0" smtClean="0">
              <a:solidFill>
                <a:schemeClr val="dk1"/>
              </a:solidFill>
              <a:latin typeface="arial"/>
              <a:ea typeface="arial"/>
            </a:endParaRPr>
          </a:p>
          <a:p>
            <a:pPr indent="0">
              <a:lnSpc>
                <a:spcPct val="100000"/>
              </a:lnSpc>
              <a:buNone/>
              <a:tabLst>
                <a:tab pos="0" algn="l"/>
              </a:tabLst>
            </a:pPr>
            <a:r>
              <a:rPr lang="en" sz="1600" spc="-1" dirty="0" smtClean="0">
                <a:solidFill>
                  <a:schemeClr val="dk1"/>
                </a:solidFill>
                <a:latin typeface="arial"/>
                <a:ea typeface="arial"/>
              </a:rPr>
              <a:t>This choice was driven by the model ability to balance precision and recall effectively, offering consistent performance across all sentiment classes. Furthermore, its speed and robustness made it suitable for real-world deployment, ensuring scalability even as dataset sizes increase.</a:t>
            </a:r>
            <a:endParaRPr lang="fr-FR" sz="1600" spc="-1" dirty="0">
              <a:solidFill>
                <a:srgbClr val="000000"/>
              </a:solidFill>
            </a:endParaRPr>
          </a:p>
        </p:txBody>
      </p:sp>
      <p:sp>
        <p:nvSpPr>
          <p:cNvPr id="4" name="PlaceHolder 2"/>
          <p:cNvSpPr txBox="1">
            <a:spLocks/>
          </p:cNvSpPr>
          <p:nvPr/>
        </p:nvSpPr>
        <p:spPr>
          <a:xfrm>
            <a:off x="511392" y="4119552"/>
            <a:ext cx="8242464" cy="1830144"/>
          </a:xfrm>
          <a:prstGeom prst="rect">
            <a:avLst/>
          </a:prstGeom>
          <a:noFill/>
          <a:ln w="0">
            <a:noFill/>
          </a:ln>
        </p:spPr>
        <p:txBody>
          <a:bodyPr lIns="91440" tIns="91440" rIns="91440" bIns="9144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Font typeface="Arial" panose="020B0604020202020204" pitchFamily="34" charset="0"/>
              <a:buNone/>
              <a:tabLst>
                <a:tab pos="0" algn="l"/>
              </a:tabLst>
            </a:pPr>
            <a:endParaRPr lang="fr-FR" sz="1200" spc="-1" dirty="0">
              <a:solidFill>
                <a:srgbClr val="000000"/>
              </a:solidFill>
              <a:latin typeface="Arial"/>
            </a:endParaRPr>
          </a:p>
        </p:txBody>
      </p:sp>
      <p:cxnSp>
        <p:nvCxnSpPr>
          <p:cNvPr id="5" name="Google Shape;183;p33"/>
          <p:cNvCxnSpPr/>
          <p:nvPr/>
        </p:nvCxnSpPr>
        <p:spPr>
          <a:xfrm>
            <a:off x="511392" y="1018836"/>
            <a:ext cx="7717680" cy="360"/>
          </a:xfrm>
          <a:prstGeom prst="straightConnector1">
            <a:avLst/>
          </a:prstGeom>
          <a:ln w="19050">
            <a:solidFill>
              <a:srgbClr val="021024"/>
            </a:solidFill>
            <a:roun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723960" y="54288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2600" b="1" strike="noStrike" spc="-1">
                <a:solidFill>
                  <a:schemeClr val="dk1"/>
                </a:solidFill>
                <a:latin typeface="Outfit"/>
                <a:ea typeface="Outfit"/>
              </a:rPr>
              <a:t>Performance metrics used</a:t>
            </a:r>
            <a:endParaRPr lang="fr-FR" sz="2600" b="0" strike="noStrike" spc="-1">
              <a:solidFill>
                <a:schemeClr val="dk1"/>
              </a:solidFill>
              <a:latin typeface="Arial"/>
            </a:endParaRPr>
          </a:p>
        </p:txBody>
      </p:sp>
      <p:sp>
        <p:nvSpPr>
          <p:cNvPr id="96" name="PlaceHolder 2"/>
          <p:cNvSpPr>
            <a:spLocks noGrp="1"/>
          </p:cNvSpPr>
          <p:nvPr>
            <p:ph type="subTitle"/>
          </p:nvPr>
        </p:nvSpPr>
        <p:spPr>
          <a:xfrm>
            <a:off x="714240" y="1581120"/>
            <a:ext cx="7027680" cy="2515392"/>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arial"/>
                <a:ea typeface="arial"/>
              </a:rPr>
              <a:t>To measure the effectiveness of each model, metrics such as accuracy, precision, recall, and F1-score were employed</a:t>
            </a:r>
            <a:r>
              <a:rPr lang="en" sz="1600" b="0" strike="noStrike" spc="-1" dirty="0" smtClean="0">
                <a:solidFill>
                  <a:schemeClr val="dk1"/>
                </a:solidFill>
                <a:latin typeface="arial"/>
                <a:ea typeface="arial"/>
              </a:rPr>
              <a:t>.</a:t>
            </a:r>
          </a:p>
          <a:p>
            <a:pPr indent="0">
              <a:lnSpc>
                <a:spcPct val="100000"/>
              </a:lnSpc>
              <a:buNone/>
              <a:tabLst>
                <a:tab pos="0" algn="l"/>
              </a:tabLst>
            </a:pPr>
            <a:r>
              <a:rPr lang="en" sz="1600" b="0" strike="noStrike" spc="-1" dirty="0" smtClean="0">
                <a:solidFill>
                  <a:schemeClr val="dk1"/>
                </a:solidFill>
                <a:latin typeface="arial"/>
                <a:ea typeface="arial"/>
              </a:rPr>
              <a:t>These </a:t>
            </a:r>
            <a:r>
              <a:rPr lang="en" sz="1600" b="0" strike="noStrike" spc="-1" dirty="0">
                <a:solidFill>
                  <a:schemeClr val="dk1"/>
                </a:solidFill>
                <a:latin typeface="arial"/>
                <a:ea typeface="arial"/>
              </a:rPr>
              <a:t>metrics provided a comprehensive view of the models' performance, especially in terms of how well they predicted the different sentiment classes. Additionally, GridSearchCV was utilized to fine-tune hyperparameters and maximize the models’ predictive capabilities.</a:t>
            </a:r>
            <a:endParaRPr lang="en-US" sz="1600" b="0" strike="noStrike" spc="-1" dirty="0">
              <a:solidFill>
                <a:srgbClr val="000000"/>
              </a:solidFill>
              <a:latin typeface="OpenSymbol"/>
            </a:endParaRPr>
          </a:p>
        </p:txBody>
      </p:sp>
      <p:cxnSp>
        <p:nvCxnSpPr>
          <p:cNvPr id="97" name="Google Shape;183;p33"/>
          <p:cNvCxnSpPr/>
          <p:nvPr/>
        </p:nvCxnSpPr>
        <p:spPr>
          <a:xfrm>
            <a:off x="713160" y="1279440"/>
            <a:ext cx="7717680" cy="360"/>
          </a:xfrm>
          <a:prstGeom prst="straightConnector1">
            <a:avLst/>
          </a:prstGeom>
          <a:ln w="19050">
            <a:solidFill>
              <a:srgbClr val="021024"/>
            </a:solidFill>
            <a:roun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a:solidFill>
                  <a:schemeClr val="dk1"/>
                </a:solidFill>
                <a:latin typeface="Outfit"/>
                <a:ea typeface="Outfit"/>
              </a:rPr>
              <a:t>Conclusions</a:t>
            </a:r>
            <a:endParaRPr lang="fr-FR" sz="4000" b="0" strike="noStrike" spc="-1">
              <a:solidFill>
                <a:schemeClr val="dk1"/>
              </a:solidFill>
              <a:latin typeface="Arial"/>
            </a:endParaRPr>
          </a:p>
        </p:txBody>
      </p:sp>
      <p:sp>
        <p:nvSpPr>
          <p:cNvPr id="101" name="PlaceHolder 2"/>
          <p:cNvSpPr>
            <a:spLocks noGrp="1"/>
          </p:cNvSpPr>
          <p:nvPr>
            <p:ph/>
          </p:nvPr>
        </p:nvSpPr>
        <p:spPr>
          <a:xfrm>
            <a:off x="714240" y="1485360"/>
            <a:ext cx="7715160" cy="286740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600" b="0" strike="noStrike" spc="-1" dirty="0">
                <a:solidFill>
                  <a:schemeClr val="dk1"/>
                </a:solidFill>
                <a:latin typeface="arial"/>
                <a:ea typeface="arial"/>
              </a:rPr>
              <a:t>In conclusion, the project underscored the value of applying NLP techniques for sentiment analysis in social media contexts. Through meticulous model evaluation and selection, it highlighted that preprocessing, choice of features, and iterative testing are key to enhancing accuracy. This study sets the stage for future applications, such as incorporating real-time updates and user engagement metrics to further enrich sentiment analysis capabilities.</a:t>
            </a:r>
            <a:endParaRPr lang="fr-FR" sz="1600" b="0" strike="noStrike" spc="-1" dirty="0">
              <a:solidFill>
                <a:srgbClr val="000000"/>
              </a:solidFill>
              <a:latin typeface="Arial"/>
            </a:endParaRPr>
          </a:p>
        </p:txBody>
      </p:sp>
      <p:pic>
        <p:nvPicPr>
          <p:cNvPr id="4" name="Picture 3"/>
          <p:cNvPicPr>
            <a:picLocks noChangeAspect="1"/>
          </p:cNvPicPr>
          <p:nvPr/>
        </p:nvPicPr>
        <p:blipFill>
          <a:blip r:embed="rId2"/>
          <a:stretch>
            <a:fillRect/>
          </a:stretch>
        </p:blipFill>
        <p:spPr>
          <a:xfrm rot="20882909">
            <a:off x="16195" y="-22415"/>
            <a:ext cx="8945195" cy="50338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Google Shape;316;p42"/>
          <p:cNvCxnSpPr/>
          <p:nvPr/>
        </p:nvCxnSpPr>
        <p:spPr>
          <a:xfrm>
            <a:off x="695160" y="4664400"/>
            <a:ext cx="7705128" cy="0"/>
          </a:xfrm>
          <a:prstGeom prst="straightConnector1">
            <a:avLst/>
          </a:prstGeom>
          <a:ln w="19050">
            <a:solidFill>
              <a:srgbClr val="021024"/>
            </a:solidFill>
            <a:round/>
          </a:ln>
        </p:spPr>
      </p:cxnSp>
      <p:cxnSp>
        <p:nvCxnSpPr>
          <p:cNvPr id="13" name="Google Shape;316;p42"/>
          <p:cNvCxnSpPr/>
          <p:nvPr/>
        </p:nvCxnSpPr>
        <p:spPr>
          <a:xfrm>
            <a:off x="695160" y="333000"/>
            <a:ext cx="7705128" cy="0"/>
          </a:xfrm>
          <a:prstGeom prst="straightConnector1">
            <a:avLst/>
          </a:prstGeom>
          <a:ln w="19050">
            <a:solidFill>
              <a:srgbClr val="021024"/>
            </a:solidFill>
            <a:round/>
          </a:ln>
        </p:spPr>
      </p:cxnSp>
      <p:cxnSp>
        <p:nvCxnSpPr>
          <p:cNvPr id="14" name="Google Shape;316;p42"/>
          <p:cNvCxnSpPr/>
          <p:nvPr/>
        </p:nvCxnSpPr>
        <p:spPr>
          <a:xfrm flipV="1">
            <a:off x="695160" y="333000"/>
            <a:ext cx="0" cy="4331400"/>
          </a:xfrm>
          <a:prstGeom prst="straightConnector1">
            <a:avLst/>
          </a:prstGeom>
          <a:ln w="19050">
            <a:solidFill>
              <a:srgbClr val="021024"/>
            </a:solidFill>
            <a:round/>
          </a:ln>
        </p:spPr>
      </p:cxnSp>
      <p:cxnSp>
        <p:nvCxnSpPr>
          <p:cNvPr id="31" name="Google Shape;316;p42"/>
          <p:cNvCxnSpPr/>
          <p:nvPr/>
        </p:nvCxnSpPr>
        <p:spPr>
          <a:xfrm flipV="1">
            <a:off x="8400288" y="333000"/>
            <a:ext cx="0" cy="4331400"/>
          </a:xfrm>
          <a:prstGeom prst="straightConnector1">
            <a:avLst/>
          </a:prstGeom>
          <a:ln w="19050">
            <a:solidFill>
              <a:srgbClr val="021024"/>
            </a:solidFill>
            <a:round/>
          </a:ln>
        </p:spPr>
      </p:cxnSp>
      <p:sp>
        <p:nvSpPr>
          <p:cNvPr id="37" name="TextBox 36"/>
          <p:cNvSpPr txBox="1"/>
          <p:nvPr/>
        </p:nvSpPr>
        <p:spPr>
          <a:xfrm>
            <a:off x="804672" y="841248"/>
            <a:ext cx="6032549" cy="1877437"/>
          </a:xfrm>
          <a:prstGeom prst="rect">
            <a:avLst/>
          </a:prstGeom>
          <a:noFill/>
        </p:spPr>
        <p:txBody>
          <a:bodyPr wrap="none" rtlCol="0">
            <a:spAutoFit/>
          </a:bodyPr>
          <a:lstStyle/>
          <a:p>
            <a:r>
              <a:rPr lang="en-US" sz="4400" b="1" dirty="0" smtClean="0">
                <a:latin typeface="Arial Unicode MS" panose="020B0604020202020204" pitchFamily="34" charset="-128"/>
                <a:ea typeface="Arial Unicode MS" panose="020B0604020202020204" pitchFamily="34" charset="-128"/>
                <a:cs typeface="Arial Unicode MS" panose="020B0604020202020204" pitchFamily="34" charset="-128"/>
              </a:rPr>
              <a:t>THANK YOU!</a:t>
            </a:r>
          </a:p>
          <a:p>
            <a:endParaRPr lang="en-US" dirty="0"/>
          </a:p>
          <a:p>
            <a:r>
              <a:rPr lang="en-US" dirty="0" smtClean="0"/>
              <a:t>Ghazal Almidana - </a:t>
            </a:r>
            <a:r>
              <a:rPr lang="en-US" dirty="0" smtClean="0"/>
              <a:t>Zaid </a:t>
            </a:r>
            <a:r>
              <a:rPr lang="en-US" dirty="0" err="1" smtClean="0"/>
              <a:t>Eltabatebi</a:t>
            </a:r>
            <a:r>
              <a:rPr lang="en-US" dirty="0" smtClean="0"/>
              <a:t> - </a:t>
            </a:r>
            <a:r>
              <a:rPr lang="en-US" dirty="0" err="1" smtClean="0"/>
              <a:t>Khadeejeh</a:t>
            </a:r>
            <a:r>
              <a:rPr lang="en-US" dirty="0" smtClean="0"/>
              <a:t> </a:t>
            </a:r>
            <a:r>
              <a:rPr lang="en-US" dirty="0" err="1" smtClean="0"/>
              <a:t>Abedrabu</a:t>
            </a:r>
            <a:endParaRPr lang="en-US" dirty="0" smtClean="0"/>
          </a:p>
          <a:p>
            <a:endParaRPr lang="en-US" dirty="0"/>
          </a:p>
          <a:p>
            <a:r>
              <a:rPr lang="en-US" dirty="0" smtClean="0"/>
              <a:t>Natural Language </a:t>
            </a:r>
            <a:r>
              <a:rPr lang="en-US" dirty="0" err="1" smtClean="0"/>
              <a:t>Proccessing</a:t>
            </a:r>
            <a:r>
              <a:rPr lang="en-US" dirty="0" smtClean="0"/>
              <a:t> Course</a:t>
            </a:r>
            <a:endParaRPr lang="en-US" dirty="0"/>
          </a:p>
        </p:txBody>
      </p:sp>
    </p:spTree>
    <p:extLst>
      <p:ext uri="{BB962C8B-B14F-4D97-AF65-F5344CB8AC3E}">
        <p14:creationId xmlns:p14="http://schemas.microsoft.com/office/powerpoint/2010/main" val="406953533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theme/theme1.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TotalTime>
  <Words>553</Words>
  <Application>Microsoft Office PowerPoint</Application>
  <PresentationFormat>On-screen Show (16:9)</PresentationFormat>
  <Paragraphs>52</Paragraphs>
  <Slides>10</Slides>
  <Notes>1</Notes>
  <HiddenSlides>0</HiddenSlides>
  <MMClips>0</MMClips>
  <ScaleCrop>false</ScaleCrop>
  <HeadingPairs>
    <vt:vector size="6" baseType="variant">
      <vt:variant>
        <vt:lpstr>Fonts Used</vt:lpstr>
      </vt:variant>
      <vt:variant>
        <vt:i4>10</vt:i4>
      </vt:variant>
      <vt:variant>
        <vt:lpstr>Theme</vt:lpstr>
      </vt:variant>
      <vt:variant>
        <vt:i4>24</vt:i4>
      </vt:variant>
      <vt:variant>
        <vt:lpstr>Slide Titles</vt:lpstr>
      </vt:variant>
      <vt:variant>
        <vt:i4>10</vt:i4>
      </vt:variant>
    </vt:vector>
  </HeadingPairs>
  <TitlesOfParts>
    <vt:vector size="44" baseType="lpstr">
      <vt:lpstr>Arial Unicode MS</vt:lpstr>
      <vt:lpstr>Arial</vt:lpstr>
      <vt:lpstr>Arial</vt:lpstr>
      <vt:lpstr>Bahnschrift SemiCondensed</vt:lpstr>
      <vt:lpstr>Calibri</vt:lpstr>
      <vt:lpstr>David</vt:lpstr>
      <vt:lpstr>OpenSymbol</vt:lpstr>
      <vt:lpstr>Outfit</vt:lpstr>
      <vt:lpstr>Symbol</vt:lpstr>
      <vt:lpstr>Wingdings</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Blue Simple Theme by Slidesgo</vt:lpstr>
      <vt:lpstr>Slidesgo Final Pages</vt:lpstr>
      <vt:lpstr>Slidesgo Final Pages</vt:lpstr>
      <vt:lpstr>Slidesgo Final Pages</vt:lpstr>
      <vt:lpstr>Sentiment Analysis Project</vt:lpstr>
      <vt:lpstr>Introduction</vt:lpstr>
      <vt:lpstr>Data Exploration</vt:lpstr>
      <vt:lpstr>PowerPoint Presentation</vt:lpstr>
      <vt:lpstr>PowerPoint Presentation</vt:lpstr>
      <vt:lpstr>Overview of models tested</vt:lpstr>
      <vt:lpstr>Linear Support Vector Classifier (LinearSVC) </vt:lpstr>
      <vt:lpstr>Performance metrics used</vt:lpstr>
      <vt:lpstr>Conclusions</vt:lpstr>
      <vt:lpstr>PowerPoint Presentation</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Project</dc:title>
  <dc:creator>Magic Systems</dc:creator>
  <cp:lastModifiedBy>Magic Systems</cp:lastModifiedBy>
  <cp:revision>6</cp:revision>
  <dcterms:modified xsi:type="dcterms:W3CDTF">2025-05-18T12:28:40Z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2025-05-18T11:40:14Z</dcterms:created>
  <dc:creator>Unknown Creator</dc:creator>
  <dc:description/>
  <dc:language>en-US</dc:language>
  <cp:lastModifiedBy>Unknown Creator</cp:lastModifiedBy>
  <dcterms:modified xsi:type="dcterms:W3CDTF">2025-05-18T11:40:14Z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